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9"/>
  </p:notesMasterIdLst>
  <p:sldIdLst>
    <p:sldId id="257" r:id="rId2"/>
    <p:sldId id="265" r:id="rId3"/>
    <p:sldId id="266" r:id="rId4"/>
    <p:sldId id="267" r:id="rId5"/>
    <p:sldId id="268" r:id="rId6"/>
    <p:sldId id="269" r:id="rId7"/>
    <p:sldId id="270" r:id="rId8"/>
    <p:sldId id="271" r:id="rId9"/>
    <p:sldId id="272" r:id="rId10"/>
    <p:sldId id="273" r:id="rId11"/>
    <p:sldId id="274" r:id="rId12"/>
    <p:sldId id="275" r:id="rId13"/>
    <p:sldId id="277" r:id="rId14"/>
    <p:sldId id="278" r:id="rId15"/>
    <p:sldId id="279" r:id="rId16"/>
    <p:sldId id="280" r:id="rId17"/>
    <p:sldId id="26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2B8"/>
    <a:srgbClr val="2557A7"/>
    <a:srgbClr val="000032"/>
    <a:srgbClr val="0100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7C6244-7606-389D-58DE-5D889B0D7977}" v="2" dt="2026-03-30T17:46:16.686"/>
    <p1510:client id="{F34393A7-879F-174F-8A68-3C41C739B8DD}" v="80" dt="2026-03-30T17:38:38.0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28"/>
    <p:restoredTop sz="94669"/>
  </p:normalViewPr>
  <p:slideViewPr>
    <p:cSldViewPr snapToGrid="0">
      <p:cViewPr varScale="1">
        <p:scale>
          <a:sx n="78" d="100"/>
          <a:sy n="78" d="100"/>
        </p:scale>
        <p:origin x="102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8790BF-CA7C-4D44-B66A-93C021FDAD06}"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E671D0-5A31-924C-847B-471242BBC811}" type="slidenum">
              <a:rPr lang="en-US" smtClean="0"/>
              <a:t>‹#›</a:t>
            </a:fld>
            <a:endParaRPr lang="en-US"/>
          </a:p>
        </p:txBody>
      </p:sp>
    </p:spTree>
    <p:extLst>
      <p:ext uri="{BB962C8B-B14F-4D97-AF65-F5344CB8AC3E}">
        <p14:creationId xmlns:p14="http://schemas.microsoft.com/office/powerpoint/2010/main" val="2725469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grid">
    <p:spTree>
      <p:nvGrpSpPr>
        <p:cNvPr id="1" name=""/>
        <p:cNvGrpSpPr/>
        <p:nvPr/>
      </p:nvGrpSpPr>
      <p:grpSpPr>
        <a:xfrm>
          <a:off x="0" y="0"/>
          <a:ext cx="0" cy="0"/>
          <a:chOff x="0" y="0"/>
          <a:chExt cx="0" cy="0"/>
        </a:xfrm>
      </p:grpSpPr>
      <p:pic>
        <p:nvPicPr>
          <p:cNvPr id="7" name="Picture 6" descr="A blue and yellow background with geometric shapes&#10;&#10;AI-generated content may be incorrect.">
            <a:extLst>
              <a:ext uri="{FF2B5EF4-FFF2-40B4-BE49-F238E27FC236}">
                <a16:creationId xmlns:a16="http://schemas.microsoft.com/office/drawing/2014/main" id="{FA04EC10-CB77-602C-8C98-F701575039A1}"/>
              </a:ext>
            </a:extLst>
          </p:cNvPr>
          <p:cNvPicPr>
            <a:picLocks noChangeAspect="1"/>
          </p:cNvPicPr>
          <p:nvPr userDrawn="1"/>
        </p:nvPicPr>
        <p:blipFill>
          <a:blip r:embed="rId2"/>
          <a:srcRect l="390" t="1" b="212"/>
          <a:stretch>
            <a:fillRect/>
          </a:stretch>
        </p:blipFill>
        <p:spPr>
          <a:xfrm>
            <a:off x="-59054" y="0"/>
            <a:ext cx="12310107" cy="6936828"/>
          </a:xfrm>
          <a:prstGeom prst="rect">
            <a:avLst/>
          </a:prstGeom>
        </p:spPr>
      </p:pic>
    </p:spTree>
    <p:extLst>
      <p:ext uri="{BB962C8B-B14F-4D97-AF65-F5344CB8AC3E}">
        <p14:creationId xmlns:p14="http://schemas.microsoft.com/office/powerpoint/2010/main" val="3751025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6E8C4-ED08-D1DE-E615-7968AACE1619}"/>
              </a:ext>
            </a:extLst>
          </p:cNvPr>
          <p:cNvSpPr>
            <a:spLocks noGrp="1"/>
          </p:cNvSpPr>
          <p:nvPr>
            <p:ph type="ctrTitle" hasCustomPrompt="1"/>
          </p:nvPr>
        </p:nvSpPr>
        <p:spPr>
          <a:xfrm>
            <a:off x="683740" y="765137"/>
            <a:ext cx="10824519" cy="1224302"/>
          </a:xfrm>
        </p:spPr>
        <p:txBody>
          <a:bodyPr anchor="b"/>
          <a:lstStyle>
            <a:lvl1pPr algn="ctr">
              <a:defRPr sz="6000"/>
            </a:lvl1pPr>
          </a:lstStyle>
          <a:p>
            <a:r>
              <a:rPr lang="en-US" dirty="0"/>
              <a:t>Session Title</a:t>
            </a:r>
          </a:p>
        </p:txBody>
      </p:sp>
      <p:sp>
        <p:nvSpPr>
          <p:cNvPr id="3" name="Subtitle 2">
            <a:extLst>
              <a:ext uri="{FF2B5EF4-FFF2-40B4-BE49-F238E27FC236}">
                <a16:creationId xmlns:a16="http://schemas.microsoft.com/office/drawing/2014/main" id="{0EF3D28C-219C-04D1-82A9-98D868407C79}"/>
              </a:ext>
            </a:extLst>
          </p:cNvPr>
          <p:cNvSpPr>
            <a:spLocks noGrp="1"/>
          </p:cNvSpPr>
          <p:nvPr>
            <p:ph type="subTitle" idx="1" hasCustomPrompt="1"/>
          </p:nvPr>
        </p:nvSpPr>
        <p:spPr>
          <a:xfrm>
            <a:off x="683740" y="2601119"/>
            <a:ext cx="9144000" cy="1655762"/>
          </a:xfrm>
          <a:prstGeom prst="rect">
            <a:avLst/>
          </a:prstGeom>
        </p:spPr>
        <p:txBody>
          <a:bodyPr/>
          <a:lstStyle>
            <a:lvl1pPr marL="0" indent="0" algn="l">
              <a:buNone/>
              <a:defRPr lang="en-US" sz="2400" b="1" i="0" kern="1200" dirty="0">
                <a:solidFill>
                  <a:schemeClr val="bg1"/>
                </a:solidFill>
                <a:latin typeface="Tenorite"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Moderator:</a:t>
            </a:r>
          </a:p>
          <a:p>
            <a:r>
              <a:rPr lang="en-US" dirty="0"/>
              <a:t>Presenter(s):</a:t>
            </a:r>
          </a:p>
        </p:txBody>
      </p:sp>
      <p:sp>
        <p:nvSpPr>
          <p:cNvPr id="9" name="Google Shape;13;p7">
            <a:extLst>
              <a:ext uri="{FF2B5EF4-FFF2-40B4-BE49-F238E27FC236}">
                <a16:creationId xmlns:a16="http://schemas.microsoft.com/office/drawing/2014/main" id="{19C4ECBE-E795-60ED-381E-2134841064B2}"/>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104910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ntitrus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013AAB1-34D7-8809-10C5-C9B75851941A}"/>
              </a:ext>
            </a:extLst>
          </p:cNvPr>
          <p:cNvSpPr/>
          <p:nvPr userDrawn="1"/>
        </p:nvSpPr>
        <p:spPr>
          <a:xfrm>
            <a:off x="0" y="1"/>
            <a:ext cx="12192000" cy="5913780"/>
          </a:xfrm>
          <a:prstGeom prst="rect">
            <a:avLst/>
          </a:prstGeom>
          <a:solidFill>
            <a:srgbClr val="0000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noRot="1" noMove="1" noResize="1" noEditPoints="1" noAdjustHandles="1" noChangeArrowheads="1" noChangeShapeType="1"/>
          </p:cNvSpPr>
          <p:nvPr>
            <p:ph type="title" hasCustomPrompt="1"/>
          </p:nvPr>
        </p:nvSpPr>
        <p:spPr>
          <a:xfrm>
            <a:off x="838200" y="200820"/>
            <a:ext cx="10515600" cy="922766"/>
          </a:xfrm>
        </p:spPr>
        <p:txBody>
          <a:bodyPr anchor="ctr" anchorCtr="0"/>
          <a:lstStyle>
            <a:lvl1pPr marL="0" indent="0" algn="ctr" rtl="0">
              <a:lnSpc>
                <a:spcPct val="90000"/>
              </a:lnSpc>
              <a:spcBef>
                <a:spcPts val="0"/>
              </a:spcBef>
              <a:spcAft>
                <a:spcPts val="0"/>
              </a:spcAft>
              <a:buClr>
                <a:schemeClr val="dk1"/>
              </a:buClr>
              <a:buSzPts val="2400"/>
              <a:buNone/>
              <a:defRPr b="1" i="0">
                <a:latin typeface="Tenorite" pitchFamily="2" charset="0"/>
              </a:defRPr>
            </a:lvl1pPr>
          </a:lstStyle>
          <a:p>
            <a:pPr marL="0" lvl="0" indent="0" algn="ctr" rtl="0">
              <a:lnSpc>
                <a:spcPct val="90000"/>
              </a:lnSpc>
              <a:spcBef>
                <a:spcPts val="0"/>
              </a:spcBef>
              <a:spcAft>
                <a:spcPts val="0"/>
              </a:spcAft>
              <a:buClr>
                <a:schemeClr val="dk1"/>
              </a:buClr>
              <a:buSzPts val="2400"/>
              <a:buNone/>
            </a:pPr>
            <a:r>
              <a:rPr lang="en-US" sz="4000" b="1" dirty="0"/>
              <a:t>SOA Antitrust Compliance Guidelines</a:t>
            </a:r>
            <a:endParaRPr lang="en-US" sz="4000" dirty="0"/>
          </a:p>
        </p:txBody>
      </p:sp>
      <p:sp>
        <p:nvSpPr>
          <p:cNvPr id="3" name="TextBox 2">
            <a:extLst>
              <a:ext uri="{FF2B5EF4-FFF2-40B4-BE49-F238E27FC236}">
                <a16:creationId xmlns:a16="http://schemas.microsoft.com/office/drawing/2014/main" id="{A1D2E6CD-5A5E-7942-8BFF-ED585A1E3A2B}"/>
              </a:ext>
            </a:extLst>
          </p:cNvPr>
          <p:cNvSpPr txBox="1">
            <a:spLocks noGrp="1" noRot="1" noMove="1" noResize="1" noEditPoints="1" noAdjustHandles="1" noChangeArrowheads="1" noChangeShapeType="1"/>
          </p:cNvSpPr>
          <p:nvPr userDrawn="1"/>
        </p:nvSpPr>
        <p:spPr>
          <a:xfrm>
            <a:off x="838200" y="1319861"/>
            <a:ext cx="10515600" cy="4493538"/>
          </a:xfrm>
          <a:prstGeom prst="rect">
            <a:avLst/>
          </a:prstGeom>
          <a:noFill/>
        </p:spPr>
        <p:txBody>
          <a:bodyPr wrap="square" rtlCol="0">
            <a:spAutoFit/>
          </a:bodyPr>
          <a:lstStyle/>
          <a:p>
            <a:r>
              <a:rPr lang="en-US" sz="1100" b="0" i="0" kern="1200" dirty="0">
                <a:solidFill>
                  <a:schemeClr val="bg1"/>
                </a:solidFill>
                <a:effectLst/>
                <a:latin typeface="Tenorite" pitchFamily="2" charset="0"/>
                <a:ea typeface="+mn-ea"/>
                <a:cs typeface="+mn-cs"/>
              </a:rPr>
              <a:t>Active participation in the Society of Actuaries is an important aspect of membership.  While the positive contributions of professional societies and associations are well-recognized and encouraged, association activities are vulnerable to close antitrust scrutiny.  By their very nature, associations bring together industry competitors and other market participants.  </a:t>
            </a:r>
          </a:p>
          <a:p>
            <a:r>
              <a:rPr lang="en-US" sz="1100" b="0" i="0" kern="1200" dirty="0">
                <a:solidFill>
                  <a:schemeClr val="bg1"/>
                </a:solidFill>
                <a:effectLst/>
                <a:latin typeface="Tenorite" pitchFamily="2" charset="0"/>
                <a:ea typeface="+mn-ea"/>
                <a:cs typeface="+mn-cs"/>
              </a:rPr>
              <a:t>The United States antitrust laws aim to protect consumers by preserving the free economy and prohibiting anti-competitive business practices; they promote competition.  There are both state and federal antitrust laws, although state antitrust laws closely follow federal law.  The Sherman Act, is the primary U.S. antitrust law pertaining to association activities.   The Sherman Act prohibits every contract, combination or conspiracy that places an unreasonable restraint on trade.  There are, however, some activities that are illegal under all circumstances, such as price fixing, market allocation and collusive bidding.  </a:t>
            </a:r>
          </a:p>
          <a:p>
            <a:endParaRPr lang="en-US" sz="1100" b="0" i="0" kern="1200" dirty="0">
              <a:solidFill>
                <a:schemeClr val="bg1"/>
              </a:solidFill>
              <a:effectLst/>
              <a:latin typeface="Tenorite" pitchFamily="2" charset="0"/>
              <a:ea typeface="+mn-ea"/>
              <a:cs typeface="+mn-cs"/>
            </a:endParaRPr>
          </a:p>
          <a:p>
            <a:r>
              <a:rPr lang="en-US" sz="1100" b="0" i="0" kern="1200" dirty="0">
                <a:solidFill>
                  <a:schemeClr val="bg1"/>
                </a:solidFill>
                <a:effectLst/>
                <a:latin typeface="Tenorite" pitchFamily="2" charset="0"/>
                <a:ea typeface="+mn-ea"/>
                <a:cs typeface="+mn-cs"/>
              </a:rPr>
              <a:t>There is no safe harbor under the antitrust law for professional association activities.  Therefore, association meeting participants should refrain from discussing any activity that could potentially be construed as having an anti-competitive effect. Discussions relating to product or service pricing, market allocations, membership restrictions, product standardization or other conditions on trade could arguably be perceived as a restraint on trade and may expose the SOA and its members to antitrust enforcement procedures.</a:t>
            </a:r>
          </a:p>
          <a:p>
            <a:endParaRPr lang="en-US" sz="1100" b="0" i="0" kern="1200" dirty="0">
              <a:solidFill>
                <a:schemeClr val="bg1"/>
              </a:solidFill>
              <a:effectLst/>
              <a:latin typeface="Tenorite" pitchFamily="2" charset="0"/>
              <a:ea typeface="+mn-ea"/>
              <a:cs typeface="+mn-cs"/>
            </a:endParaRPr>
          </a:p>
          <a:p>
            <a:r>
              <a:rPr lang="en-US" sz="1100" b="0" i="0" kern="1200" dirty="0">
                <a:solidFill>
                  <a:schemeClr val="bg1"/>
                </a:solidFill>
                <a:effectLst/>
                <a:latin typeface="Tenorite" pitchFamily="2" charset="0"/>
                <a:ea typeface="+mn-ea"/>
                <a:cs typeface="+mn-cs"/>
              </a:rPr>
              <a:t>While participating in all SOA in person meetings, webinars, teleconferences or side discussions, you should avoid discussing competitively sensitive information with competitors and follow these guidelines:</a:t>
            </a:r>
          </a:p>
          <a:p>
            <a:endParaRPr lang="en-US" sz="1100" b="0" i="0" kern="1200" dirty="0">
              <a:solidFill>
                <a:schemeClr val="bg1"/>
              </a:solidFill>
              <a:effectLst/>
              <a:latin typeface="Tenorite" pitchFamily="2" charset="0"/>
              <a:ea typeface="+mn-ea"/>
              <a:cs typeface="+mn-cs"/>
            </a:endParaRPr>
          </a:p>
          <a:p>
            <a:pPr marL="171450" lvl="0" indent="-171450">
              <a:buFont typeface="Arial" panose="020B0604020202020204" pitchFamily="34" charset="0"/>
              <a:buChar char="•"/>
            </a:pPr>
            <a:r>
              <a:rPr lang="en-US" sz="1100" b="0" i="0" kern="1200" dirty="0">
                <a:solidFill>
                  <a:schemeClr val="bg1"/>
                </a:solidFill>
                <a:effectLst/>
                <a:latin typeface="Tenorite" pitchFamily="2" charset="0"/>
                <a:ea typeface="+mn-ea"/>
                <a:cs typeface="+mn-cs"/>
              </a:rPr>
              <a:t>Do not discuss prices for services or products or anything else that might affect prices</a:t>
            </a:r>
          </a:p>
          <a:p>
            <a:pPr marL="171450" lvl="0" indent="-171450">
              <a:buFont typeface="Arial" panose="020B0604020202020204" pitchFamily="34" charset="0"/>
              <a:buChar char="•"/>
            </a:pPr>
            <a:r>
              <a:rPr lang="en-US" sz="1100" b="0" i="0" kern="1200" dirty="0">
                <a:solidFill>
                  <a:schemeClr val="bg1"/>
                </a:solidFill>
                <a:effectLst/>
                <a:latin typeface="Tenorite" pitchFamily="2" charset="0"/>
                <a:ea typeface="+mn-ea"/>
                <a:cs typeface="+mn-cs"/>
              </a:rPr>
              <a:t>Do not discuss what you or other entities plan to do in a particular geographic or product markets or with particular customers.</a:t>
            </a:r>
          </a:p>
          <a:p>
            <a:pPr marL="171450" lvl="0" indent="-171450">
              <a:buFont typeface="Arial" panose="020B0604020202020204" pitchFamily="34" charset="0"/>
              <a:buChar char="•"/>
            </a:pPr>
            <a:r>
              <a:rPr lang="en-US" sz="1100" b="0" i="0" kern="1200" dirty="0">
                <a:solidFill>
                  <a:schemeClr val="bg1"/>
                </a:solidFill>
                <a:effectLst/>
                <a:latin typeface="Tenorite" pitchFamily="2" charset="0"/>
                <a:ea typeface="+mn-ea"/>
                <a:cs typeface="+mn-cs"/>
              </a:rPr>
              <a:t>Do not speak on behalf of the SOA or any of its committees unless specifically authorized to do so.</a:t>
            </a:r>
          </a:p>
          <a:p>
            <a:pPr marL="171450" lvl="0" indent="-171450">
              <a:buFont typeface="Arial" panose="020B0604020202020204" pitchFamily="34" charset="0"/>
              <a:buChar char="•"/>
            </a:pPr>
            <a:r>
              <a:rPr lang="en-US" sz="1100" b="0" i="0" kern="1200" dirty="0">
                <a:solidFill>
                  <a:schemeClr val="bg1"/>
                </a:solidFill>
                <a:effectLst/>
                <a:latin typeface="Tenorite" pitchFamily="2" charset="0"/>
                <a:ea typeface="+mn-ea"/>
                <a:cs typeface="+mn-cs"/>
              </a:rPr>
              <a:t>Do leave a meeting where any anticompetitive pricing or market allocation discussion occurs.</a:t>
            </a:r>
          </a:p>
          <a:p>
            <a:pPr marL="171450" lvl="0" indent="-171450">
              <a:buFont typeface="Arial" panose="020B0604020202020204" pitchFamily="34" charset="0"/>
              <a:buChar char="•"/>
            </a:pPr>
            <a:r>
              <a:rPr lang="en-US" sz="1100" b="0" i="0" kern="1200" dirty="0">
                <a:solidFill>
                  <a:schemeClr val="bg1"/>
                </a:solidFill>
                <a:effectLst/>
                <a:latin typeface="Tenorite" pitchFamily="2" charset="0"/>
                <a:ea typeface="+mn-ea"/>
                <a:cs typeface="+mn-cs"/>
              </a:rPr>
              <a:t>Do alert SOA staff and/or legal counsel to any concerning discussions</a:t>
            </a:r>
          </a:p>
          <a:p>
            <a:pPr marL="171450" lvl="0" indent="-171450">
              <a:buFont typeface="Arial" panose="020B0604020202020204" pitchFamily="34" charset="0"/>
              <a:buChar char="•"/>
            </a:pPr>
            <a:r>
              <a:rPr lang="en-US" sz="1100" b="0" i="0" kern="1200" dirty="0">
                <a:solidFill>
                  <a:schemeClr val="bg1"/>
                </a:solidFill>
                <a:effectLst/>
                <a:latin typeface="Tenorite" pitchFamily="2" charset="0"/>
                <a:ea typeface="+mn-ea"/>
                <a:cs typeface="+mn-cs"/>
              </a:rPr>
              <a:t>Do consult with legal counsel before raising any matter or making a statement that may involve competitively sensitive information.</a:t>
            </a:r>
          </a:p>
          <a:p>
            <a:pPr lvl="0"/>
            <a:endParaRPr lang="en-US" sz="1100" b="0" i="0" kern="1200" dirty="0">
              <a:solidFill>
                <a:schemeClr val="bg1"/>
              </a:solidFill>
              <a:effectLst/>
              <a:latin typeface="Tenorite" pitchFamily="2" charset="0"/>
              <a:ea typeface="+mn-ea"/>
              <a:cs typeface="+mn-cs"/>
            </a:endParaRPr>
          </a:p>
          <a:p>
            <a:r>
              <a:rPr lang="en-US" sz="1100" b="0" i="0" kern="1200" dirty="0">
                <a:solidFill>
                  <a:schemeClr val="bg1"/>
                </a:solidFill>
                <a:effectLst/>
                <a:latin typeface="Tenorite" pitchFamily="2" charset="0"/>
                <a:ea typeface="+mn-ea"/>
                <a:cs typeface="+mn-cs"/>
              </a:rPr>
              <a:t>Adherence to these guidelines involves not only avoidance of antitrust violations, but avoidance of behavior which might be so construed.  These guidelines only provide an overview of prohibited activities.  SOA legal counsel reviews meeting agenda and materials as deemed appropriate and any discussion that departs from the formal agenda should be scrutinized carefully.  Antitrust compliance is everyone’s responsibility; however, please seek legal counsel if you have any questions or concerns.</a:t>
            </a:r>
          </a:p>
        </p:txBody>
      </p:sp>
      <p:sp>
        <p:nvSpPr>
          <p:cNvPr id="9" name="Google Shape;13;p7">
            <a:extLst>
              <a:ext uri="{FF2B5EF4-FFF2-40B4-BE49-F238E27FC236}">
                <a16:creationId xmlns:a16="http://schemas.microsoft.com/office/drawing/2014/main" id="{36994E39-8013-8F1A-4BAD-D5A23AFF1E86}"/>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1195430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Title 1"/>
          <p:cNvSpPr>
            <a:spLocks noGrp="1" noRot="1" noMove="1" noResize="1" noEditPoints="1" noAdjustHandles="1" noChangeArrowheads="1" noChangeShapeType="1"/>
          </p:cNvSpPr>
          <p:nvPr>
            <p:ph type="title" hasCustomPrompt="1"/>
          </p:nvPr>
        </p:nvSpPr>
        <p:spPr>
          <a:xfrm>
            <a:off x="838200" y="365126"/>
            <a:ext cx="10515600" cy="1037790"/>
          </a:xfrm>
        </p:spPr>
        <p:txBody>
          <a:bodyPr anchor="ctr" anchorCtr="0"/>
          <a:lstStyle>
            <a:lvl1pPr marL="0" indent="0" algn="ctr" rtl="0">
              <a:lnSpc>
                <a:spcPct val="90000"/>
              </a:lnSpc>
              <a:spcBef>
                <a:spcPts val="0"/>
              </a:spcBef>
              <a:spcAft>
                <a:spcPts val="0"/>
              </a:spcAft>
              <a:buClr>
                <a:schemeClr val="dk1"/>
              </a:buClr>
              <a:buSzPts val="2400"/>
              <a:buNone/>
              <a:defRPr b="1" i="0">
                <a:latin typeface="Tenorite" pitchFamily="2" charset="0"/>
              </a:defRPr>
            </a:lvl1pPr>
          </a:lstStyle>
          <a:p>
            <a:pPr marL="0" lvl="0" indent="0" algn="ctr" rtl="0">
              <a:lnSpc>
                <a:spcPct val="90000"/>
              </a:lnSpc>
              <a:spcBef>
                <a:spcPts val="0"/>
              </a:spcBef>
              <a:spcAft>
                <a:spcPts val="0"/>
              </a:spcAft>
              <a:buClr>
                <a:schemeClr val="dk1"/>
              </a:buClr>
              <a:buSzPts val="2400"/>
              <a:buNone/>
            </a:pPr>
            <a:r>
              <a:rPr lang="en-US" sz="4000" b="1" dirty="0"/>
              <a:t>Presentation Disclaimer</a:t>
            </a:r>
            <a:endParaRPr lang="en-US" sz="4000" dirty="0"/>
          </a:p>
        </p:txBody>
      </p:sp>
      <p:sp>
        <p:nvSpPr>
          <p:cNvPr id="3" name="TextBox 2">
            <a:extLst>
              <a:ext uri="{FF2B5EF4-FFF2-40B4-BE49-F238E27FC236}">
                <a16:creationId xmlns:a16="http://schemas.microsoft.com/office/drawing/2014/main" id="{A1D2E6CD-5A5E-7942-8BFF-ED585A1E3A2B}"/>
              </a:ext>
            </a:extLst>
          </p:cNvPr>
          <p:cNvSpPr txBox="1">
            <a:spLocks noGrp="1" noRot="1" noMove="1" noResize="1" noEditPoints="1" noAdjustHandles="1" noChangeArrowheads="1" noChangeShapeType="1"/>
          </p:cNvSpPr>
          <p:nvPr userDrawn="1"/>
        </p:nvSpPr>
        <p:spPr>
          <a:xfrm>
            <a:off x="838198" y="1679752"/>
            <a:ext cx="10515599" cy="3939540"/>
          </a:xfrm>
          <a:prstGeom prst="rect">
            <a:avLst/>
          </a:prstGeom>
          <a:noFill/>
        </p:spPr>
        <p:txBody>
          <a:bodyPr wrap="square" rtlCol="0">
            <a:spAutoFit/>
          </a:bodyPr>
          <a:lstStyle/>
          <a:p>
            <a:pPr algn="ctr">
              <a:lnSpc>
                <a:spcPct val="100000"/>
              </a:lnSpc>
            </a:pPr>
            <a:r>
              <a:rPr lang="en-US" sz="2500" b="0" i="1" kern="1200" dirty="0">
                <a:solidFill>
                  <a:schemeClr val="bg1"/>
                </a:solidFill>
                <a:effectLst/>
                <a:latin typeface="Tenorite" pitchFamily="2" charset="0"/>
                <a:ea typeface="+mn-ea"/>
                <a:cs typeface="+mn-cs"/>
              </a:rPr>
              <a:t>Presentations are intended for educational purposes only and do not replace independent professional judgment.  Statements of fact and opinions expressed are those of the participants individually and, unless expressly stated to the contrary, are not the opinion or position of the Society of Actuaries, its cosponsors or its committees.  The Society of Actuaries does not endorse or approve, and assumes no responsibility for, the content, accuracy or completeness of the information presented.  Attendees should note that the sessions are audio-recorded and may be published in various media, including print, audio and video formats without further notice.</a:t>
            </a:r>
          </a:p>
        </p:txBody>
      </p:sp>
      <p:sp>
        <p:nvSpPr>
          <p:cNvPr id="8" name="Google Shape;13;p7">
            <a:extLst>
              <a:ext uri="{FF2B5EF4-FFF2-40B4-BE49-F238E27FC236}">
                <a16:creationId xmlns:a16="http://schemas.microsoft.com/office/drawing/2014/main" id="{F8EC2286-2F08-36B5-DF3C-31450D06B8C5}"/>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4055771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08651-583D-6AEB-90C2-AF8172008933}"/>
              </a:ext>
            </a:extLst>
          </p:cNvPr>
          <p:cNvSpPr>
            <a:spLocks noGrp="1"/>
          </p:cNvSpPr>
          <p:nvPr>
            <p:ph type="title"/>
          </p:nvPr>
        </p:nvSpPr>
        <p:spPr/>
        <p:txBody>
          <a:bodyPr/>
          <a:lstStyle>
            <a:lvl1pPr>
              <a:defRPr lang="en-US" sz="4400" b="1" i="0" kern="1200" dirty="0">
                <a:solidFill>
                  <a:schemeClr val="bg1"/>
                </a:solidFill>
                <a:latin typeface="Tenorite" pitchFamily="2" charset="0"/>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5C3F4513-4A51-BC5B-DD63-8668DD3E3199}"/>
              </a:ext>
            </a:extLst>
          </p:cNvPr>
          <p:cNvSpPr>
            <a:spLocks noGrp="1"/>
          </p:cNvSpPr>
          <p:nvPr>
            <p:ph idx="1"/>
          </p:nvPr>
        </p:nvSpPr>
        <p:spPr>
          <a:xfrm>
            <a:off x="838200" y="2055812"/>
            <a:ext cx="10933044" cy="3529441"/>
          </a:xfrm>
          <a:prstGeom prst="rect">
            <a:avLst/>
          </a:prstGeom>
        </p:spPr>
        <p:txBody>
          <a:bodyPr/>
          <a:lstStyle>
            <a:lvl1pPr>
              <a:defRPr b="0" i="0">
                <a:solidFill>
                  <a:schemeClr val="bg1"/>
                </a:solidFill>
                <a:latin typeface="Tenorite" pitchFamily="2" charset="0"/>
              </a:defRPr>
            </a:lvl1pPr>
            <a:lvl2pPr>
              <a:defRPr b="0" i="0">
                <a:solidFill>
                  <a:schemeClr val="bg1"/>
                </a:solidFill>
                <a:latin typeface="Tenorite" pitchFamily="2" charset="0"/>
              </a:defRPr>
            </a:lvl2pPr>
            <a:lvl3pPr>
              <a:defRPr b="0" i="0">
                <a:solidFill>
                  <a:schemeClr val="bg1"/>
                </a:solidFill>
                <a:latin typeface="Tenorite" pitchFamily="2" charset="0"/>
              </a:defRPr>
            </a:lvl3pPr>
            <a:lvl4pPr>
              <a:defRPr b="0" i="0">
                <a:solidFill>
                  <a:schemeClr val="bg1"/>
                </a:solidFill>
                <a:latin typeface="Tenorite" pitchFamily="2" charset="0"/>
              </a:defRPr>
            </a:lvl4pPr>
            <a:lvl5pPr>
              <a:defRPr b="0" i="0">
                <a:solidFill>
                  <a:schemeClr val="bg1"/>
                </a:solidFill>
                <a:latin typeface="Tenorite"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Google Shape;13;p7">
            <a:extLst>
              <a:ext uri="{FF2B5EF4-FFF2-40B4-BE49-F238E27FC236}">
                <a16:creationId xmlns:a16="http://schemas.microsoft.com/office/drawing/2014/main" id="{4395ABD0-6B7D-115F-F623-FFBE362E0B5C}"/>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2714086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619E60C-681F-6108-6A0F-118AA26D5018}"/>
              </a:ext>
            </a:extLst>
          </p:cNvPr>
          <p:cNvSpPr/>
          <p:nvPr userDrawn="1"/>
        </p:nvSpPr>
        <p:spPr>
          <a:xfrm>
            <a:off x="0" y="1"/>
            <a:ext cx="12192000" cy="5931242"/>
          </a:xfrm>
          <a:prstGeom prst="rect">
            <a:avLst/>
          </a:prstGeom>
          <a:solidFill>
            <a:srgbClr val="2557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108651-583D-6AEB-90C2-AF8172008933}"/>
              </a:ext>
            </a:extLst>
          </p:cNvPr>
          <p:cNvSpPr>
            <a:spLocks noGrp="1"/>
          </p:cNvSpPr>
          <p:nvPr>
            <p:ph type="title"/>
          </p:nvPr>
        </p:nvSpPr>
        <p:spPr/>
        <p:txBody>
          <a:bodyPr/>
          <a:lstStyle>
            <a:lvl1pPr>
              <a:defRPr lang="en-US" sz="4400" b="1" i="0" kern="1200" dirty="0">
                <a:solidFill>
                  <a:schemeClr val="bg1"/>
                </a:solidFill>
                <a:latin typeface="Tenorite" pitchFamily="2" charset="0"/>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5C3F4513-4A51-BC5B-DD63-8668DD3E3199}"/>
              </a:ext>
            </a:extLst>
          </p:cNvPr>
          <p:cNvSpPr>
            <a:spLocks noGrp="1"/>
          </p:cNvSpPr>
          <p:nvPr>
            <p:ph idx="1"/>
          </p:nvPr>
        </p:nvSpPr>
        <p:spPr>
          <a:xfrm>
            <a:off x="838200" y="2055813"/>
            <a:ext cx="10933044" cy="2917020"/>
          </a:xfrm>
          <a:prstGeom prst="rect">
            <a:avLst/>
          </a:prstGeom>
        </p:spPr>
        <p:txBody>
          <a:bodyPr/>
          <a:lstStyle>
            <a:lvl1pPr>
              <a:defRPr b="0" i="0">
                <a:solidFill>
                  <a:schemeClr val="bg1"/>
                </a:solidFill>
                <a:latin typeface="Tenorite" pitchFamily="2" charset="0"/>
              </a:defRPr>
            </a:lvl1pPr>
            <a:lvl2pPr>
              <a:defRPr b="0" i="0">
                <a:solidFill>
                  <a:schemeClr val="bg1"/>
                </a:solidFill>
                <a:latin typeface="Tenorite" pitchFamily="2" charset="0"/>
              </a:defRPr>
            </a:lvl2pPr>
            <a:lvl3pPr>
              <a:defRPr b="0" i="0">
                <a:solidFill>
                  <a:schemeClr val="bg1"/>
                </a:solidFill>
                <a:latin typeface="Tenorite" pitchFamily="2" charset="0"/>
              </a:defRPr>
            </a:lvl3pPr>
            <a:lvl4pPr>
              <a:defRPr b="0" i="0">
                <a:solidFill>
                  <a:schemeClr val="bg1"/>
                </a:solidFill>
                <a:latin typeface="Tenorite" pitchFamily="2" charset="0"/>
              </a:defRPr>
            </a:lvl4pPr>
            <a:lvl5pPr>
              <a:defRPr b="0" i="0">
                <a:solidFill>
                  <a:schemeClr val="bg1"/>
                </a:solidFill>
                <a:latin typeface="Tenorite"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Google Shape;13;p7">
            <a:extLst>
              <a:ext uri="{FF2B5EF4-FFF2-40B4-BE49-F238E27FC236}">
                <a16:creationId xmlns:a16="http://schemas.microsoft.com/office/drawing/2014/main" id="{729DC002-C7F3-98FB-B365-B168AE8F1ED2}"/>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2043880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3924A-2383-7D8E-4BC5-C5037129D26E}"/>
              </a:ext>
            </a:extLst>
          </p:cNvPr>
          <p:cNvSpPr>
            <a:spLocks noGrp="1"/>
          </p:cNvSpPr>
          <p:nvPr>
            <p:ph type="title"/>
          </p:nvPr>
        </p:nvSpPr>
        <p:spPr/>
        <p:txBody>
          <a:bodyPr/>
          <a:lstStyle>
            <a:lvl1pPr>
              <a:defRPr lang="en-US" sz="4400" b="1" i="0" kern="1200" dirty="0">
                <a:solidFill>
                  <a:schemeClr val="bg1"/>
                </a:solidFill>
                <a:latin typeface="Tenorite" pitchFamily="2" charset="0"/>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A2A1D12B-F8B6-C3F9-657F-99569C45BAE6}"/>
              </a:ext>
            </a:extLst>
          </p:cNvPr>
          <p:cNvSpPr>
            <a:spLocks noGrp="1"/>
          </p:cNvSpPr>
          <p:nvPr>
            <p:ph sz="half" idx="1"/>
          </p:nvPr>
        </p:nvSpPr>
        <p:spPr>
          <a:xfrm>
            <a:off x="838200" y="1825625"/>
            <a:ext cx="5181600" cy="3542242"/>
          </a:xfrm>
          <a:prstGeom prst="rect">
            <a:avLst/>
          </a:prstGeom>
        </p:spPr>
        <p:txBody>
          <a:bodyPr/>
          <a:lstStyle>
            <a:lvl1pPr>
              <a:defRPr b="0" i="0">
                <a:solidFill>
                  <a:schemeClr val="bg1"/>
                </a:solidFill>
                <a:latin typeface="Tenorite" pitchFamily="2" charset="0"/>
              </a:defRPr>
            </a:lvl1pPr>
            <a:lvl2pPr>
              <a:defRPr b="0" i="0">
                <a:solidFill>
                  <a:schemeClr val="bg1"/>
                </a:solidFill>
                <a:latin typeface="Tenorite" pitchFamily="2" charset="0"/>
              </a:defRPr>
            </a:lvl2pPr>
            <a:lvl3pPr>
              <a:defRPr b="0" i="0">
                <a:solidFill>
                  <a:schemeClr val="bg1"/>
                </a:solidFill>
                <a:latin typeface="Tenorite" pitchFamily="2" charset="0"/>
              </a:defRPr>
            </a:lvl3pPr>
            <a:lvl4pPr>
              <a:defRPr b="0" i="0">
                <a:solidFill>
                  <a:schemeClr val="bg1"/>
                </a:solidFill>
                <a:latin typeface="Tenorite" pitchFamily="2" charset="0"/>
              </a:defRPr>
            </a:lvl4pPr>
            <a:lvl5pPr>
              <a:defRPr b="0" i="0">
                <a:solidFill>
                  <a:schemeClr val="bg1"/>
                </a:solidFill>
                <a:latin typeface="Tenorite"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FF2B5EF4-FFF2-40B4-BE49-F238E27FC236}">
                <a16:creationId xmlns:a16="http://schemas.microsoft.com/office/drawing/2014/main" id="{97B8A776-A309-055F-643F-D3FDD6889525}"/>
              </a:ext>
            </a:extLst>
          </p:cNvPr>
          <p:cNvSpPr>
            <a:spLocks noGrp="1"/>
          </p:cNvSpPr>
          <p:nvPr>
            <p:ph sz="half" idx="10"/>
          </p:nvPr>
        </p:nvSpPr>
        <p:spPr>
          <a:xfrm>
            <a:off x="6172200" y="1825625"/>
            <a:ext cx="5181600" cy="3542242"/>
          </a:xfrm>
          <a:prstGeom prst="rect">
            <a:avLst/>
          </a:prstGeom>
        </p:spPr>
        <p:txBody>
          <a:bodyPr/>
          <a:lstStyle>
            <a:lvl1pPr>
              <a:defRPr b="0" i="0">
                <a:solidFill>
                  <a:schemeClr val="bg1"/>
                </a:solidFill>
                <a:latin typeface="Tenorite" pitchFamily="2" charset="0"/>
              </a:defRPr>
            </a:lvl1pPr>
            <a:lvl2pPr>
              <a:defRPr b="0" i="0">
                <a:solidFill>
                  <a:schemeClr val="bg1"/>
                </a:solidFill>
                <a:latin typeface="Tenorite" pitchFamily="2" charset="0"/>
              </a:defRPr>
            </a:lvl2pPr>
            <a:lvl3pPr>
              <a:defRPr b="0" i="0">
                <a:solidFill>
                  <a:schemeClr val="bg1"/>
                </a:solidFill>
                <a:latin typeface="Tenorite" pitchFamily="2" charset="0"/>
              </a:defRPr>
            </a:lvl3pPr>
            <a:lvl4pPr>
              <a:defRPr b="0" i="0">
                <a:solidFill>
                  <a:schemeClr val="bg1"/>
                </a:solidFill>
                <a:latin typeface="Tenorite" pitchFamily="2" charset="0"/>
              </a:defRPr>
            </a:lvl4pPr>
            <a:lvl5pPr>
              <a:defRPr b="0" i="0">
                <a:solidFill>
                  <a:schemeClr val="bg1"/>
                </a:solidFill>
                <a:latin typeface="Tenorite"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Google Shape;13;p7">
            <a:extLst>
              <a:ext uri="{FF2B5EF4-FFF2-40B4-BE49-F238E27FC236}">
                <a16:creationId xmlns:a16="http://schemas.microsoft.com/office/drawing/2014/main" id="{91296C5C-8C43-B513-F059-2F720ABD14AD}"/>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962651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99C5E-4BD0-E356-98D7-B1B7D449A798}"/>
              </a:ext>
            </a:extLst>
          </p:cNvPr>
          <p:cNvSpPr>
            <a:spLocks noGrp="1"/>
          </p:cNvSpPr>
          <p:nvPr>
            <p:ph type="title"/>
          </p:nvPr>
        </p:nvSpPr>
        <p:spPr>
          <a:xfrm>
            <a:off x="839788" y="365125"/>
            <a:ext cx="10515600" cy="1056171"/>
          </a:xfrm>
        </p:spPr>
        <p:txBody>
          <a:bodyPr/>
          <a:lstStyle>
            <a:lvl1pPr>
              <a:defRPr lang="en-US" sz="4400" b="1" i="0" kern="1200" dirty="0">
                <a:solidFill>
                  <a:schemeClr val="bg1"/>
                </a:solidFill>
                <a:latin typeface="Tenorite" pitchFamily="2" charset="0"/>
                <a:ea typeface="+mj-ea"/>
                <a:cs typeface="+mj-cs"/>
              </a:defRPr>
            </a:lvl1pPr>
          </a:lstStyle>
          <a:p>
            <a:r>
              <a:rPr lang="en-US" dirty="0"/>
              <a:t>Click to edit Master title style</a:t>
            </a:r>
          </a:p>
        </p:txBody>
      </p:sp>
      <p:sp>
        <p:nvSpPr>
          <p:cNvPr id="3" name="Text Placeholder 2">
            <a:extLst>
              <a:ext uri="{FF2B5EF4-FFF2-40B4-BE49-F238E27FC236}">
                <a16:creationId xmlns:a16="http://schemas.microsoft.com/office/drawing/2014/main" id="{8EAC60F3-3501-F1E6-8652-D0AE763D59AB}"/>
              </a:ext>
            </a:extLst>
          </p:cNvPr>
          <p:cNvSpPr>
            <a:spLocks noGrp="1"/>
          </p:cNvSpPr>
          <p:nvPr>
            <p:ph type="body" idx="1"/>
          </p:nvPr>
        </p:nvSpPr>
        <p:spPr>
          <a:xfrm>
            <a:off x="839788" y="1484659"/>
            <a:ext cx="5157787" cy="823912"/>
          </a:xfrm>
          <a:prstGeom prst="rect">
            <a:avLst/>
          </a:prstGeom>
        </p:spPr>
        <p:txBody>
          <a:bodyPr anchor="b"/>
          <a:lstStyle>
            <a:lvl1pPr marL="0" indent="0">
              <a:buNone/>
              <a:defRPr lang="en-US" sz="2400" b="0" i="0" kern="1200" dirty="0" smtClean="0">
                <a:solidFill>
                  <a:schemeClr val="bg1"/>
                </a:solidFill>
                <a:latin typeface="Arboria Book" panose="02000000000000000000" pitchFamily="2" charset="77"/>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dirty="0"/>
              <a:t>Click to edit Master text styles</a:t>
            </a:r>
          </a:p>
        </p:txBody>
      </p:sp>
      <p:sp>
        <p:nvSpPr>
          <p:cNvPr id="4" name="Content Placeholder 3">
            <a:extLst>
              <a:ext uri="{FF2B5EF4-FFF2-40B4-BE49-F238E27FC236}">
                <a16:creationId xmlns:a16="http://schemas.microsoft.com/office/drawing/2014/main" id="{DFC8A39C-A75A-2489-47A7-342C874F7551}"/>
              </a:ext>
            </a:extLst>
          </p:cNvPr>
          <p:cNvSpPr>
            <a:spLocks noGrp="1"/>
          </p:cNvSpPr>
          <p:nvPr>
            <p:ph sz="half" idx="2"/>
          </p:nvPr>
        </p:nvSpPr>
        <p:spPr>
          <a:xfrm>
            <a:off x="839788" y="2371934"/>
            <a:ext cx="5157787" cy="3001407"/>
          </a:xfrm>
          <a:prstGeom prst="rect">
            <a:avLst/>
          </a:prstGeom>
        </p:spPr>
        <p:txBody>
          <a:bodyPr/>
          <a:lstStyle>
            <a:lvl1pPr>
              <a:defRPr b="0" i="0">
                <a:solidFill>
                  <a:schemeClr val="bg1"/>
                </a:solidFill>
                <a:latin typeface="Arboria Book" panose="02000000000000000000" pitchFamily="2" charset="77"/>
              </a:defRPr>
            </a:lvl1pPr>
            <a:lvl2pPr>
              <a:defRPr b="0" i="0">
                <a:solidFill>
                  <a:schemeClr val="bg1"/>
                </a:solidFill>
                <a:latin typeface="Arboria Book" panose="02000000000000000000" pitchFamily="2" charset="77"/>
              </a:defRPr>
            </a:lvl2pPr>
            <a:lvl3pPr>
              <a:defRPr b="0" i="0">
                <a:solidFill>
                  <a:schemeClr val="bg1"/>
                </a:solidFill>
                <a:latin typeface="Arboria Book" panose="02000000000000000000" pitchFamily="2" charset="77"/>
              </a:defRPr>
            </a:lvl3pPr>
            <a:lvl4pPr>
              <a:defRPr b="0" i="0">
                <a:solidFill>
                  <a:schemeClr val="bg1"/>
                </a:solidFill>
                <a:latin typeface="Arboria Book" panose="02000000000000000000" pitchFamily="2" charset="77"/>
              </a:defRPr>
            </a:lvl4pPr>
            <a:lvl5pPr>
              <a:defRPr b="0" i="0">
                <a:solidFill>
                  <a:schemeClr val="bg1"/>
                </a:solidFill>
                <a:latin typeface="Arboria Book" panose="02000000000000000000"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9A1AE139-DBD1-C0A9-49E7-3F9F20CF8E10}"/>
              </a:ext>
            </a:extLst>
          </p:cNvPr>
          <p:cNvSpPr>
            <a:spLocks noGrp="1"/>
          </p:cNvSpPr>
          <p:nvPr>
            <p:ph type="body" sz="quarter" idx="3"/>
          </p:nvPr>
        </p:nvSpPr>
        <p:spPr>
          <a:xfrm>
            <a:off x="6172200" y="1484659"/>
            <a:ext cx="5183188" cy="823912"/>
          </a:xfrm>
          <a:prstGeom prst="rect">
            <a:avLst/>
          </a:prstGeom>
        </p:spPr>
        <p:txBody>
          <a:bodyPr anchor="b"/>
          <a:lstStyle>
            <a:lvl1pPr marL="0" indent="0">
              <a:buNone/>
              <a:defRPr lang="en-US" sz="2400" b="0" i="0" kern="1200" dirty="0" smtClean="0">
                <a:solidFill>
                  <a:schemeClr val="bg1"/>
                </a:solidFill>
                <a:latin typeface="Arboria Book" panose="02000000000000000000" pitchFamily="2" charset="77"/>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dirty="0"/>
              <a:t>Click to edit Master text styles</a:t>
            </a:r>
          </a:p>
        </p:txBody>
      </p:sp>
      <p:sp>
        <p:nvSpPr>
          <p:cNvPr id="6" name="Content Placeholder 5">
            <a:extLst>
              <a:ext uri="{FF2B5EF4-FFF2-40B4-BE49-F238E27FC236}">
                <a16:creationId xmlns:a16="http://schemas.microsoft.com/office/drawing/2014/main" id="{FEA743D0-4BC2-0E8A-93BF-9F043C1EA22C}"/>
              </a:ext>
            </a:extLst>
          </p:cNvPr>
          <p:cNvSpPr>
            <a:spLocks noGrp="1"/>
          </p:cNvSpPr>
          <p:nvPr>
            <p:ph sz="quarter" idx="4"/>
          </p:nvPr>
        </p:nvSpPr>
        <p:spPr>
          <a:xfrm>
            <a:off x="6172200" y="2371934"/>
            <a:ext cx="5183188" cy="3001407"/>
          </a:xfrm>
          <a:prstGeom prst="rect">
            <a:avLst/>
          </a:prstGeom>
        </p:spPr>
        <p:txBody>
          <a:bodyPr/>
          <a:lstStyle>
            <a:lvl1pPr>
              <a:defRPr b="0" i="0">
                <a:solidFill>
                  <a:schemeClr val="bg1"/>
                </a:solidFill>
                <a:latin typeface="Arboria Book" panose="02000000000000000000" pitchFamily="2" charset="77"/>
              </a:defRPr>
            </a:lvl1pPr>
            <a:lvl2pPr>
              <a:defRPr b="0" i="0">
                <a:solidFill>
                  <a:schemeClr val="bg1"/>
                </a:solidFill>
                <a:latin typeface="Arboria Book" panose="02000000000000000000" pitchFamily="2" charset="77"/>
              </a:defRPr>
            </a:lvl2pPr>
            <a:lvl3pPr>
              <a:defRPr b="0" i="0">
                <a:solidFill>
                  <a:schemeClr val="bg1"/>
                </a:solidFill>
                <a:latin typeface="Arboria Book" panose="02000000000000000000" pitchFamily="2" charset="77"/>
              </a:defRPr>
            </a:lvl3pPr>
            <a:lvl4pPr>
              <a:defRPr b="0" i="0">
                <a:solidFill>
                  <a:schemeClr val="bg1"/>
                </a:solidFill>
                <a:latin typeface="Arboria Book" panose="02000000000000000000" pitchFamily="2" charset="77"/>
              </a:defRPr>
            </a:lvl4pPr>
            <a:lvl5pPr>
              <a:defRPr b="0" i="0">
                <a:solidFill>
                  <a:schemeClr val="bg1"/>
                </a:solidFill>
                <a:latin typeface="Arboria Book" panose="02000000000000000000"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Google Shape;13;p7">
            <a:extLst>
              <a:ext uri="{FF2B5EF4-FFF2-40B4-BE49-F238E27FC236}">
                <a16:creationId xmlns:a16="http://schemas.microsoft.com/office/drawing/2014/main" id="{820018E4-30D5-370F-9C82-A0A4AC9FBFCD}"/>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3220342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4" name="Google Shape;13;p7">
            <a:extLst>
              <a:ext uri="{FF2B5EF4-FFF2-40B4-BE49-F238E27FC236}">
                <a16:creationId xmlns:a16="http://schemas.microsoft.com/office/drawing/2014/main" id="{8CC97C50-3869-8A40-33FE-765465608D81}"/>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
        <p:nvSpPr>
          <p:cNvPr id="5" name="TextBox 4">
            <a:extLst>
              <a:ext uri="{FF2B5EF4-FFF2-40B4-BE49-F238E27FC236}">
                <a16:creationId xmlns:a16="http://schemas.microsoft.com/office/drawing/2014/main" id="{304C7696-AFE8-D4D8-E112-A2618A85B64E}"/>
              </a:ext>
            </a:extLst>
          </p:cNvPr>
          <p:cNvSpPr txBox="1">
            <a:spLocks noGrp="1" noRot="1" noMove="1" noResize="1" noEditPoints="1" noAdjustHandles="1" noChangeArrowheads="1" noChangeShapeType="1"/>
          </p:cNvSpPr>
          <p:nvPr userDrawn="1"/>
        </p:nvSpPr>
        <p:spPr>
          <a:xfrm>
            <a:off x="2344180" y="2659559"/>
            <a:ext cx="7503640" cy="769441"/>
          </a:xfrm>
          <a:prstGeom prst="rect">
            <a:avLst/>
          </a:prstGeom>
          <a:noFill/>
        </p:spPr>
        <p:txBody>
          <a:bodyPr wrap="square">
            <a:spAutoFit/>
          </a:bodyPr>
          <a:lstStyle/>
          <a:p>
            <a:pPr algn="ctr"/>
            <a:r>
              <a:rPr lang="en-US" sz="4400" b="1" i="0" kern="0" dirty="0">
                <a:solidFill>
                  <a:schemeClr val="bg1"/>
                </a:solidFill>
                <a:latin typeface="Tenorite" pitchFamily="2" charset="0"/>
              </a:rPr>
              <a:t>Questions?</a:t>
            </a:r>
            <a:endParaRPr lang="en-US" sz="4400" b="1" i="0" dirty="0">
              <a:solidFill>
                <a:schemeClr val="bg1"/>
              </a:solidFill>
              <a:latin typeface="Tenorite" pitchFamily="2" charset="0"/>
            </a:endParaRPr>
          </a:p>
        </p:txBody>
      </p:sp>
    </p:spTree>
    <p:extLst>
      <p:ext uri="{BB962C8B-B14F-4D97-AF65-F5344CB8AC3E}">
        <p14:creationId xmlns:p14="http://schemas.microsoft.com/office/powerpoint/2010/main" val="363077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CDC219-E384-716F-7395-2002C6D02616}"/>
              </a:ext>
            </a:extLst>
          </p:cNvPr>
          <p:cNvSpPr/>
          <p:nvPr userDrawn="1"/>
        </p:nvSpPr>
        <p:spPr>
          <a:xfrm>
            <a:off x="0" y="0"/>
            <a:ext cx="12192000" cy="6857999"/>
          </a:xfrm>
          <a:prstGeom prst="rect">
            <a:avLst/>
          </a:prstGeom>
          <a:solidFill>
            <a:srgbClr val="0100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ack background with white text&#10;&#10;AI-generated content may be incorrect.">
            <a:extLst>
              <a:ext uri="{FF2B5EF4-FFF2-40B4-BE49-F238E27FC236}">
                <a16:creationId xmlns:a16="http://schemas.microsoft.com/office/drawing/2014/main" id="{513BE650-821D-8AF3-62F0-EA19C2778EB7}"/>
              </a:ext>
            </a:extLst>
          </p:cNvPr>
          <p:cNvPicPr>
            <a:picLocks noChangeAspect="1"/>
          </p:cNvPicPr>
          <p:nvPr userDrawn="1"/>
        </p:nvPicPr>
        <p:blipFill>
          <a:blip r:embed="rId2"/>
          <a:stretch>
            <a:fillRect/>
          </a:stretch>
        </p:blipFill>
        <p:spPr>
          <a:xfrm>
            <a:off x="395071" y="6177895"/>
            <a:ext cx="1371943" cy="408739"/>
          </a:xfrm>
          <a:prstGeom prst="rect">
            <a:avLst/>
          </a:prstGeom>
        </p:spPr>
      </p:pic>
      <p:pic>
        <p:nvPicPr>
          <p:cNvPr id="5" name="Picture 4" descr="A black background with white text&#10;&#10;AI-generated content may be incorrect.">
            <a:extLst>
              <a:ext uri="{FF2B5EF4-FFF2-40B4-BE49-F238E27FC236}">
                <a16:creationId xmlns:a16="http://schemas.microsoft.com/office/drawing/2014/main" id="{C8DA3FEA-8C5C-7914-CD4D-52C0CB456D52}"/>
              </a:ext>
            </a:extLst>
          </p:cNvPr>
          <p:cNvPicPr>
            <a:picLocks noChangeAspect="1"/>
          </p:cNvPicPr>
          <p:nvPr userDrawn="1"/>
        </p:nvPicPr>
        <p:blipFill>
          <a:blip r:embed="rId3"/>
          <a:stretch>
            <a:fillRect/>
          </a:stretch>
        </p:blipFill>
        <p:spPr>
          <a:xfrm>
            <a:off x="10044846" y="6083046"/>
            <a:ext cx="1752083" cy="598434"/>
          </a:xfrm>
          <a:prstGeom prst="rect">
            <a:avLst/>
          </a:prstGeom>
        </p:spPr>
      </p:pic>
      <p:sp>
        <p:nvSpPr>
          <p:cNvPr id="7" name="Google Shape;13;p7">
            <a:extLst>
              <a:ext uri="{FF2B5EF4-FFF2-40B4-BE49-F238E27FC236}">
                <a16:creationId xmlns:a16="http://schemas.microsoft.com/office/drawing/2014/main" id="{2458C45A-0484-DD7E-ED61-65379BF31579}"/>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
        <p:nvSpPr>
          <p:cNvPr id="8" name="Title Placeholder 1">
            <a:extLst>
              <a:ext uri="{FF2B5EF4-FFF2-40B4-BE49-F238E27FC236}">
                <a16:creationId xmlns:a16="http://schemas.microsoft.com/office/drawing/2014/main" id="{370AE59D-EB61-9A74-BE4C-9B082A1B9D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414614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82719-8A71-A225-7612-B5768BE82411}"/>
              </a:ext>
            </a:extLst>
          </p:cNvPr>
          <p:cNvSpPr>
            <a:spLocks noGrp="1"/>
          </p:cNvSpPr>
          <p:nvPr>
            <p:ph type="title"/>
          </p:nvPr>
        </p:nvSpPr>
        <p:spPr>
          <a:xfrm>
            <a:off x="839788" y="457200"/>
            <a:ext cx="3932237" cy="1600200"/>
          </a:xfrm>
        </p:spPr>
        <p:txBody>
          <a:bodyPr anchor="b">
            <a:normAutofit/>
          </a:bodyPr>
          <a:lstStyle>
            <a:lvl1pPr>
              <a:defRPr lang="en-US" sz="3200" b="1" i="0" kern="1200" dirty="0">
                <a:solidFill>
                  <a:schemeClr val="bg1"/>
                </a:solidFill>
                <a:latin typeface="Tenorite" pitchFamily="2" charset="0"/>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89D64B7B-EAA3-F731-F143-804F836913A6}"/>
              </a:ext>
            </a:extLst>
          </p:cNvPr>
          <p:cNvSpPr>
            <a:spLocks noGrp="1"/>
          </p:cNvSpPr>
          <p:nvPr>
            <p:ph idx="1"/>
          </p:nvPr>
        </p:nvSpPr>
        <p:spPr>
          <a:xfrm>
            <a:off x="5180012" y="457200"/>
            <a:ext cx="6172200" cy="4775199"/>
          </a:xfrm>
          <a:prstGeom prst="rect">
            <a:avLst/>
          </a:prstGeom>
        </p:spPr>
        <p:txBody>
          <a:bodyPr/>
          <a:lstStyle>
            <a:lvl1pPr>
              <a:defRPr sz="3200" b="0" i="0">
                <a:solidFill>
                  <a:schemeClr val="bg1"/>
                </a:solidFill>
                <a:latin typeface="Tenorite" pitchFamily="2" charset="0"/>
              </a:defRPr>
            </a:lvl1pPr>
            <a:lvl2pPr>
              <a:defRPr sz="2800" b="0" i="0">
                <a:solidFill>
                  <a:schemeClr val="bg1"/>
                </a:solidFill>
                <a:latin typeface="Tenorite" pitchFamily="2" charset="0"/>
              </a:defRPr>
            </a:lvl2pPr>
            <a:lvl3pPr>
              <a:defRPr sz="2400" b="0" i="0">
                <a:solidFill>
                  <a:schemeClr val="bg1"/>
                </a:solidFill>
                <a:latin typeface="Tenorite" pitchFamily="2" charset="0"/>
              </a:defRPr>
            </a:lvl3pPr>
            <a:lvl4pPr>
              <a:defRPr sz="2000" b="0" i="0">
                <a:solidFill>
                  <a:schemeClr val="bg1"/>
                </a:solidFill>
                <a:latin typeface="Tenorite" pitchFamily="2" charset="0"/>
              </a:defRPr>
            </a:lvl4pPr>
            <a:lvl5pPr>
              <a:defRPr sz="2000" b="0" i="0">
                <a:solidFill>
                  <a:schemeClr val="bg1"/>
                </a:solidFill>
                <a:latin typeface="Tenorite"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70C1D7A-FD88-6D59-A38A-BF3225E01A87}"/>
              </a:ext>
            </a:extLst>
          </p:cNvPr>
          <p:cNvSpPr>
            <a:spLocks noGrp="1"/>
          </p:cNvSpPr>
          <p:nvPr>
            <p:ph type="body" sz="half" idx="2"/>
          </p:nvPr>
        </p:nvSpPr>
        <p:spPr>
          <a:xfrm>
            <a:off x="839788" y="2147644"/>
            <a:ext cx="3932237" cy="3084755"/>
          </a:xfrm>
          <a:prstGeom prst="rect">
            <a:avLst/>
          </a:prstGeom>
        </p:spPr>
        <p:txBody>
          <a:bodyPr/>
          <a:lstStyle>
            <a:lvl1pPr marL="0" indent="0">
              <a:buNone/>
              <a:defRPr sz="1600" b="0" i="0">
                <a:solidFill>
                  <a:schemeClr val="bg1"/>
                </a:solidFill>
                <a:latin typeface="Tenorit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Google Shape;13;p7">
            <a:extLst>
              <a:ext uri="{FF2B5EF4-FFF2-40B4-BE49-F238E27FC236}">
                <a16:creationId xmlns:a16="http://schemas.microsoft.com/office/drawing/2014/main" id="{50456375-4783-A215-9883-BCC0990255D3}"/>
              </a:ext>
            </a:extLst>
          </p:cNvPr>
          <p:cNvSpPr txBox="1">
            <a:spLocks noGrp="1"/>
          </p:cNvSpPr>
          <p:nvPr>
            <p:ph type="sldNum" idx="4"/>
          </p:nvPr>
        </p:nvSpPr>
        <p:spPr>
          <a:xfrm>
            <a:off x="11300884" y="6156014"/>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smtClean="0"/>
              <a:pPr/>
              <a:t>‹#›</a:t>
            </a:fld>
            <a:endParaRPr lang="en-US" dirty="0">
              <a:highlight>
                <a:srgbClr val="2557A7"/>
              </a:highlight>
            </a:endParaRPr>
          </a:p>
        </p:txBody>
      </p:sp>
      <p:sp>
        <p:nvSpPr>
          <p:cNvPr id="6" name="Google Shape;13;p7">
            <a:extLst>
              <a:ext uri="{FF2B5EF4-FFF2-40B4-BE49-F238E27FC236}">
                <a16:creationId xmlns:a16="http://schemas.microsoft.com/office/drawing/2014/main" id="{217E5DDD-05ED-E6AE-BD0D-BB079C237A7E}"/>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5336959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3B585-F957-2533-EFEB-C931A73531C5}"/>
              </a:ext>
            </a:extLst>
          </p:cNvPr>
          <p:cNvSpPr>
            <a:spLocks noGrp="1"/>
          </p:cNvSpPr>
          <p:nvPr>
            <p:ph type="title"/>
          </p:nvPr>
        </p:nvSpPr>
        <p:spPr>
          <a:xfrm>
            <a:off x="839788" y="457200"/>
            <a:ext cx="3932237" cy="1600200"/>
          </a:xfrm>
        </p:spPr>
        <p:txBody>
          <a:bodyPr anchor="b"/>
          <a:lstStyle>
            <a:lvl1pPr>
              <a:defRPr sz="3200" b="1" i="0">
                <a:latin typeface="Tenorite" pitchFamily="2" charset="0"/>
              </a:defRPr>
            </a:lvl1pPr>
          </a:lstStyle>
          <a:p>
            <a:r>
              <a:rPr lang="en-US" dirty="0"/>
              <a:t>Click to edit Master title style</a:t>
            </a:r>
          </a:p>
        </p:txBody>
      </p:sp>
      <p:sp>
        <p:nvSpPr>
          <p:cNvPr id="3" name="Picture Placeholder 2">
            <a:extLst>
              <a:ext uri="{FF2B5EF4-FFF2-40B4-BE49-F238E27FC236}">
                <a16:creationId xmlns:a16="http://schemas.microsoft.com/office/drawing/2014/main" id="{A675F8D1-47BF-5744-2BB9-2FCAD7AB17ED}"/>
              </a:ext>
            </a:extLst>
          </p:cNvPr>
          <p:cNvSpPr>
            <a:spLocks noGrp="1"/>
          </p:cNvSpPr>
          <p:nvPr>
            <p:ph type="pic" idx="1"/>
          </p:nvPr>
        </p:nvSpPr>
        <p:spPr>
          <a:xfrm>
            <a:off x="5180012" y="457200"/>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359E25-2684-BBBD-D3E0-86DD65E6445A}"/>
              </a:ext>
            </a:extLst>
          </p:cNvPr>
          <p:cNvSpPr>
            <a:spLocks noGrp="1"/>
          </p:cNvSpPr>
          <p:nvPr>
            <p:ph type="body" sz="half" idx="2"/>
          </p:nvPr>
        </p:nvSpPr>
        <p:spPr>
          <a:xfrm>
            <a:off x="839788" y="2057400"/>
            <a:ext cx="3932237" cy="327342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Google Shape;13;p7">
            <a:extLst>
              <a:ext uri="{FF2B5EF4-FFF2-40B4-BE49-F238E27FC236}">
                <a16:creationId xmlns:a16="http://schemas.microsoft.com/office/drawing/2014/main" id="{21C236FE-1D50-6109-60F1-FB91D2D4BA3D}"/>
              </a:ext>
            </a:extLst>
          </p:cNvPr>
          <p:cNvSpPr txBox="1">
            <a:spLocks noGrp="1"/>
          </p:cNvSpPr>
          <p:nvPr>
            <p:ph type="sldNum" idx="4"/>
          </p:nvPr>
        </p:nvSpPr>
        <p:spPr>
          <a:xfrm>
            <a:off x="11300884" y="6156014"/>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smtClean="0"/>
              <a:pPr/>
              <a:t>‹#›</a:t>
            </a:fld>
            <a:endParaRPr lang="en-US" dirty="0">
              <a:highlight>
                <a:srgbClr val="2557A7"/>
              </a:highlight>
            </a:endParaRPr>
          </a:p>
        </p:txBody>
      </p:sp>
      <p:sp>
        <p:nvSpPr>
          <p:cNvPr id="7" name="Google Shape;13;p7">
            <a:extLst>
              <a:ext uri="{FF2B5EF4-FFF2-40B4-BE49-F238E27FC236}">
                <a16:creationId xmlns:a16="http://schemas.microsoft.com/office/drawing/2014/main" id="{3A6C180F-5D59-F058-3F42-486648D3B232}"/>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23167921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95EFA-C0D7-0E79-FDD0-1FDD1CA1ABA5}"/>
              </a:ext>
            </a:extLst>
          </p:cNvPr>
          <p:cNvSpPr>
            <a:spLocks noGrp="1"/>
          </p:cNvSpPr>
          <p:nvPr>
            <p:ph type="title"/>
          </p:nvPr>
        </p:nvSpPr>
        <p:spPr/>
        <p:txBody>
          <a:bodyPr/>
          <a:lstStyle>
            <a:lvl1pPr>
              <a:defRPr b="1" i="0">
                <a:latin typeface="Tenorite" pitchFamily="2" charset="0"/>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0D7813B6-1D01-472D-D8D6-B3EDE08589C6}"/>
              </a:ext>
            </a:extLst>
          </p:cNvPr>
          <p:cNvSpPr>
            <a:spLocks noGrp="1"/>
          </p:cNvSpPr>
          <p:nvPr>
            <p:ph type="body" orient="vert" idx="1"/>
          </p:nvPr>
        </p:nvSpPr>
        <p:spPr>
          <a:xfrm>
            <a:off x="845812" y="1801899"/>
            <a:ext cx="10515600" cy="3711045"/>
          </a:xfrm>
          <a:prstGeom prst="rect">
            <a:avLst/>
          </a:prstGeom>
        </p:spPr>
        <p:txBody>
          <a:bodyPr vert="eaVert"/>
          <a:lstStyle>
            <a:lvl1pPr>
              <a:defRPr b="0" i="0">
                <a:solidFill>
                  <a:schemeClr val="bg1"/>
                </a:solidFill>
                <a:latin typeface="Tenorite" pitchFamily="2" charset="0"/>
              </a:defRPr>
            </a:lvl1pPr>
            <a:lvl2pPr>
              <a:defRPr b="0" i="0">
                <a:solidFill>
                  <a:schemeClr val="bg1"/>
                </a:solidFill>
                <a:latin typeface="Tenorite" pitchFamily="2" charset="0"/>
              </a:defRPr>
            </a:lvl2pPr>
            <a:lvl3pPr>
              <a:defRPr b="0" i="0">
                <a:solidFill>
                  <a:schemeClr val="bg1"/>
                </a:solidFill>
                <a:latin typeface="Tenorite" pitchFamily="2" charset="0"/>
              </a:defRPr>
            </a:lvl3pPr>
            <a:lvl4pPr>
              <a:defRPr b="0" i="0">
                <a:solidFill>
                  <a:schemeClr val="bg1"/>
                </a:solidFill>
                <a:latin typeface="Tenorite" pitchFamily="2" charset="0"/>
              </a:defRPr>
            </a:lvl4pPr>
            <a:lvl5pPr>
              <a:defRPr b="0" i="0">
                <a:solidFill>
                  <a:schemeClr val="bg1"/>
                </a:solidFill>
                <a:latin typeface="Tenorite"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Google Shape;13;p7">
            <a:extLst>
              <a:ext uri="{FF2B5EF4-FFF2-40B4-BE49-F238E27FC236}">
                <a16:creationId xmlns:a16="http://schemas.microsoft.com/office/drawing/2014/main" id="{8CEA9278-8F69-6275-1A13-45623C1B943E}"/>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10466269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82B260-DC18-58E6-0F45-C5CF19A8D136}"/>
              </a:ext>
            </a:extLst>
          </p:cNvPr>
          <p:cNvSpPr>
            <a:spLocks noGrp="1"/>
          </p:cNvSpPr>
          <p:nvPr>
            <p:ph type="title" orient="vert"/>
          </p:nvPr>
        </p:nvSpPr>
        <p:spPr>
          <a:xfrm>
            <a:off x="8724900" y="365125"/>
            <a:ext cx="2628900" cy="4918075"/>
          </a:xfrm>
        </p:spPr>
        <p:txBody>
          <a:bodyPr vert="eaVert"/>
          <a:lstStyle>
            <a:lvl1pPr>
              <a:defRPr b="1" i="0">
                <a:latin typeface="Tenorite" pitchFamily="2" charset="0"/>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9EAC2466-DF93-9B49-4DD4-A8C4EA6DB5D5}"/>
              </a:ext>
            </a:extLst>
          </p:cNvPr>
          <p:cNvSpPr>
            <a:spLocks noGrp="1"/>
          </p:cNvSpPr>
          <p:nvPr>
            <p:ph type="body" orient="vert" idx="1"/>
          </p:nvPr>
        </p:nvSpPr>
        <p:spPr>
          <a:xfrm>
            <a:off x="838200" y="365125"/>
            <a:ext cx="7734300" cy="4918075"/>
          </a:xfrm>
          <a:prstGeom prst="rect">
            <a:avLst/>
          </a:prstGeom>
        </p:spPr>
        <p:txBody>
          <a:bodyPr vert="eaVert"/>
          <a:lstStyle>
            <a:lvl1pPr>
              <a:defRPr b="0" i="0">
                <a:solidFill>
                  <a:schemeClr val="bg1"/>
                </a:solidFill>
                <a:latin typeface="Tenorite" pitchFamily="2" charset="0"/>
              </a:defRPr>
            </a:lvl1pPr>
            <a:lvl2pPr>
              <a:defRPr b="0" i="0">
                <a:solidFill>
                  <a:schemeClr val="bg1"/>
                </a:solidFill>
                <a:latin typeface="Tenorite" pitchFamily="2" charset="0"/>
              </a:defRPr>
            </a:lvl2pPr>
            <a:lvl3pPr>
              <a:defRPr b="0" i="0">
                <a:solidFill>
                  <a:schemeClr val="bg1"/>
                </a:solidFill>
                <a:latin typeface="Tenorite" pitchFamily="2" charset="0"/>
              </a:defRPr>
            </a:lvl3pPr>
            <a:lvl4pPr>
              <a:defRPr b="0" i="0">
                <a:solidFill>
                  <a:schemeClr val="bg1"/>
                </a:solidFill>
                <a:latin typeface="Tenorite" pitchFamily="2" charset="0"/>
              </a:defRPr>
            </a:lvl4pPr>
            <a:lvl5pPr>
              <a:defRPr b="0" i="0">
                <a:solidFill>
                  <a:schemeClr val="bg1"/>
                </a:solidFill>
                <a:latin typeface="Tenorite"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Google Shape;13;p7">
            <a:extLst>
              <a:ext uri="{FF2B5EF4-FFF2-40B4-BE49-F238E27FC236}">
                <a16:creationId xmlns:a16="http://schemas.microsoft.com/office/drawing/2014/main" id="{42096077-0A3D-806B-2C06-64785CFECA31}"/>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38504629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valuation">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706A572-DFCC-4363-CA51-51F3930D5480}"/>
              </a:ext>
            </a:extLst>
          </p:cNvPr>
          <p:cNvSpPr txBox="1">
            <a:spLocks noGrp="1" noRot="1" noMove="1" noResize="1" noEditPoints="1" noAdjustHandles="1" noChangeArrowheads="1" noChangeShapeType="1"/>
          </p:cNvSpPr>
          <p:nvPr userDrawn="1"/>
        </p:nvSpPr>
        <p:spPr>
          <a:xfrm>
            <a:off x="2344180" y="624702"/>
            <a:ext cx="7503640" cy="1446550"/>
          </a:xfrm>
          <a:prstGeom prst="rect">
            <a:avLst/>
          </a:prstGeom>
          <a:noFill/>
        </p:spPr>
        <p:txBody>
          <a:bodyPr wrap="square">
            <a:spAutoFit/>
          </a:bodyPr>
          <a:lstStyle/>
          <a:p>
            <a:pPr algn="ctr"/>
            <a:r>
              <a:rPr lang="en-US" sz="4400" b="1" i="0" kern="0" dirty="0">
                <a:solidFill>
                  <a:schemeClr val="bg1"/>
                </a:solidFill>
                <a:latin typeface="Tenorite" pitchFamily="2" charset="0"/>
              </a:rPr>
              <a:t>Please remember to complete the evaluation:</a:t>
            </a:r>
            <a:endParaRPr lang="en-US" sz="4400" b="1" i="0" dirty="0">
              <a:solidFill>
                <a:schemeClr val="bg1"/>
              </a:solidFill>
              <a:latin typeface="Tenorite" pitchFamily="2" charset="0"/>
            </a:endParaRPr>
          </a:p>
        </p:txBody>
      </p:sp>
      <p:sp>
        <p:nvSpPr>
          <p:cNvPr id="7" name="Google Shape;13;p7">
            <a:extLst>
              <a:ext uri="{FF2B5EF4-FFF2-40B4-BE49-F238E27FC236}">
                <a16:creationId xmlns:a16="http://schemas.microsoft.com/office/drawing/2014/main" id="{D2076C82-DB57-DB86-FDD1-44A521BA4FBC}"/>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13529976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pic>
        <p:nvPicPr>
          <p:cNvPr id="2" name="Picture 1" descr="A blue and yellow background with geometric shapes&#10;&#10;AI-generated content may be incorrect.">
            <a:extLst>
              <a:ext uri="{FF2B5EF4-FFF2-40B4-BE49-F238E27FC236}">
                <a16:creationId xmlns:a16="http://schemas.microsoft.com/office/drawing/2014/main" id="{71123ABC-4AE3-2588-862A-8D2AE066B792}"/>
              </a:ext>
            </a:extLst>
          </p:cNvPr>
          <p:cNvPicPr>
            <a:picLocks noChangeAspect="1"/>
          </p:cNvPicPr>
          <p:nvPr userDrawn="1"/>
        </p:nvPicPr>
        <p:blipFill>
          <a:blip r:embed="rId2"/>
          <a:srcRect l="390" t="1" b="212"/>
          <a:stretch>
            <a:fillRect/>
          </a:stretch>
        </p:blipFill>
        <p:spPr>
          <a:xfrm>
            <a:off x="-118107" y="-78828"/>
            <a:ext cx="12310107" cy="6936828"/>
          </a:xfrm>
          <a:prstGeom prst="rect">
            <a:avLst/>
          </a:prstGeom>
        </p:spPr>
      </p:pic>
      <p:pic>
        <p:nvPicPr>
          <p:cNvPr id="5" name="Picture 4" descr="A black background with white text&#10;&#10;AI-generated content may be incorrect.">
            <a:extLst>
              <a:ext uri="{FF2B5EF4-FFF2-40B4-BE49-F238E27FC236}">
                <a16:creationId xmlns:a16="http://schemas.microsoft.com/office/drawing/2014/main" id="{18A96754-1B1C-D2CE-5E56-BE8B21BA2056}"/>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3644900" y="2221672"/>
            <a:ext cx="4902200" cy="1460500"/>
          </a:xfrm>
          <a:prstGeom prst="rect">
            <a:avLst/>
          </a:prstGeom>
        </p:spPr>
      </p:pic>
    </p:spTree>
    <p:extLst>
      <p:ext uri="{BB962C8B-B14F-4D97-AF65-F5344CB8AC3E}">
        <p14:creationId xmlns:p14="http://schemas.microsoft.com/office/powerpoint/2010/main" val="1282359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1A1A0A8-E40E-A393-8BB2-E85590A6530C}"/>
              </a:ext>
            </a:extLst>
          </p:cNvPr>
          <p:cNvPicPr>
            <a:picLocks noChangeAspect="1"/>
          </p:cNvPicPr>
          <p:nvPr userDrawn="1"/>
        </p:nvPicPr>
        <p:blipFill>
          <a:blip r:embed="rId18"/>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08DCCBB5-24E2-B648-64A9-A04AE76289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Rectangle 2">
            <a:extLst>
              <a:ext uri="{FF2B5EF4-FFF2-40B4-BE49-F238E27FC236}">
                <a16:creationId xmlns:a16="http://schemas.microsoft.com/office/drawing/2014/main" id="{BFCBEFE9-8697-643A-AA97-5EC1AC080AB2}"/>
              </a:ext>
            </a:extLst>
          </p:cNvPr>
          <p:cNvSpPr/>
          <p:nvPr userDrawn="1"/>
        </p:nvSpPr>
        <p:spPr>
          <a:xfrm>
            <a:off x="-1" y="5906530"/>
            <a:ext cx="12191999" cy="951470"/>
          </a:xfrm>
          <a:prstGeom prst="rect">
            <a:avLst/>
          </a:prstGeom>
          <a:solidFill>
            <a:srgbClr val="0052B8">
              <a:alpha val="6909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0032"/>
              </a:highlight>
            </a:endParaRPr>
          </a:p>
        </p:txBody>
      </p:sp>
      <p:sp>
        <p:nvSpPr>
          <p:cNvPr id="5" name="Google Shape;13;p7">
            <a:extLst>
              <a:ext uri="{FF2B5EF4-FFF2-40B4-BE49-F238E27FC236}">
                <a16:creationId xmlns:a16="http://schemas.microsoft.com/office/drawing/2014/main" id="{BF57E828-F7ED-58AB-D1C5-103CBC6E169E}"/>
              </a:ext>
            </a:extLst>
          </p:cNvPr>
          <p:cNvSpPr txBox="1">
            <a:spLocks noGrp="1"/>
          </p:cNvSpPr>
          <p:nvPr>
            <p:ph type="sldNum" idx="4"/>
          </p:nvPr>
        </p:nvSpPr>
        <p:spPr>
          <a:xfrm>
            <a:off x="5853563" y="6382263"/>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latin typeface="Tenorite" pitchFamily="2" charset="0"/>
                <a:ea typeface="Tenorite" pitchFamily="2" charset="0"/>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smtClean="0"/>
              <a:pPr/>
              <a:t>‹#›</a:t>
            </a:fld>
            <a:endParaRPr lang="en-US" dirty="0">
              <a:latin typeface="Tenorite" pitchFamily="2" charset="0"/>
            </a:endParaRPr>
          </a:p>
        </p:txBody>
      </p:sp>
      <p:pic>
        <p:nvPicPr>
          <p:cNvPr id="13" name="Picture 12" descr="A black background with white text&#10;&#10;AI-generated content may be incorrect.">
            <a:extLst>
              <a:ext uri="{FF2B5EF4-FFF2-40B4-BE49-F238E27FC236}">
                <a16:creationId xmlns:a16="http://schemas.microsoft.com/office/drawing/2014/main" id="{9D390FBB-552A-4618-9949-73AE4196E366}"/>
              </a:ext>
            </a:extLst>
          </p:cNvPr>
          <p:cNvPicPr>
            <a:picLocks noChangeAspect="1"/>
          </p:cNvPicPr>
          <p:nvPr userDrawn="1"/>
        </p:nvPicPr>
        <p:blipFill>
          <a:blip r:embed="rId19"/>
          <a:stretch>
            <a:fillRect/>
          </a:stretch>
        </p:blipFill>
        <p:spPr>
          <a:xfrm>
            <a:off x="395071" y="6177895"/>
            <a:ext cx="1371943" cy="408739"/>
          </a:xfrm>
          <a:prstGeom prst="rect">
            <a:avLst/>
          </a:prstGeom>
        </p:spPr>
      </p:pic>
      <p:pic>
        <p:nvPicPr>
          <p:cNvPr id="14" name="Picture 13" descr="A black background with white text&#10;&#10;AI-generated content may be incorrect.">
            <a:extLst>
              <a:ext uri="{FF2B5EF4-FFF2-40B4-BE49-F238E27FC236}">
                <a16:creationId xmlns:a16="http://schemas.microsoft.com/office/drawing/2014/main" id="{2536479E-7C2E-CAE6-735E-66F4F8480AC3}"/>
              </a:ext>
            </a:extLst>
          </p:cNvPr>
          <p:cNvPicPr>
            <a:picLocks noChangeAspect="1"/>
          </p:cNvPicPr>
          <p:nvPr userDrawn="1"/>
        </p:nvPicPr>
        <p:blipFill>
          <a:blip r:embed="rId20"/>
          <a:stretch>
            <a:fillRect/>
          </a:stretch>
        </p:blipFill>
        <p:spPr>
          <a:xfrm>
            <a:off x="10044846" y="6083046"/>
            <a:ext cx="1752083" cy="598434"/>
          </a:xfrm>
          <a:prstGeom prst="rect">
            <a:avLst/>
          </a:prstGeom>
        </p:spPr>
      </p:pic>
    </p:spTree>
    <p:extLst>
      <p:ext uri="{BB962C8B-B14F-4D97-AF65-F5344CB8AC3E}">
        <p14:creationId xmlns:p14="http://schemas.microsoft.com/office/powerpoint/2010/main" val="2897915888"/>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5" r:id="rId3"/>
    <p:sldLayoutId id="2147483666" r:id="rId4"/>
    <p:sldLayoutId id="2147483650" r:id="rId5"/>
    <p:sldLayoutId id="2147483663"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51" r:id="rId15"/>
    <p:sldLayoutId id="2147483664" r:id="rId16"/>
  </p:sldLayoutIdLst>
  <p:hf hdr="0" ftr="0" dt="0"/>
  <p:txStyles>
    <p:titleStyle>
      <a:lvl1pPr algn="l" defTabSz="914400" rtl="0" eaLnBrk="1" latinLnBrk="0" hangingPunct="1">
        <a:lnSpc>
          <a:spcPct val="90000"/>
        </a:lnSpc>
        <a:spcBef>
          <a:spcPct val="0"/>
        </a:spcBef>
        <a:buNone/>
        <a:defRPr lang="en-US" sz="4400" b="1" i="0" kern="1200" dirty="0">
          <a:solidFill>
            <a:schemeClr val="bg1"/>
          </a:solidFill>
          <a:latin typeface="Tenorite"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white text&#10;&#10;AI-generated content may be incorrect.">
            <a:extLst>
              <a:ext uri="{FF2B5EF4-FFF2-40B4-BE49-F238E27FC236}">
                <a16:creationId xmlns:a16="http://schemas.microsoft.com/office/drawing/2014/main" id="{ECA539E2-4CD2-3070-C36C-1EC19AA2E5B7}"/>
              </a:ext>
            </a:extLst>
          </p:cNvPr>
          <p:cNvPicPr>
            <a:picLocks noChangeAspect="1"/>
          </p:cNvPicPr>
          <p:nvPr/>
        </p:nvPicPr>
        <p:blipFill>
          <a:blip r:embed="rId2"/>
          <a:stretch>
            <a:fillRect/>
          </a:stretch>
        </p:blipFill>
        <p:spPr>
          <a:xfrm>
            <a:off x="2749550" y="2286000"/>
            <a:ext cx="6692900" cy="2286000"/>
          </a:xfrm>
          <a:prstGeom prst="rect">
            <a:avLst/>
          </a:prstGeom>
        </p:spPr>
      </p:pic>
    </p:spTree>
    <p:extLst>
      <p:ext uri="{BB962C8B-B14F-4D97-AF65-F5344CB8AC3E}">
        <p14:creationId xmlns:p14="http://schemas.microsoft.com/office/powerpoint/2010/main" val="4158402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68046-66D1-54E2-0657-E956FDA4429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102279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1C3E1-0263-9A59-A5D7-B1482877BE8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262525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3964B-FB34-453C-C42C-1B2ED6753787}"/>
              </a:ext>
            </a:extLst>
          </p:cNvPr>
          <p:cNvSpPr>
            <a:spLocks noGrp="1"/>
          </p:cNvSpPr>
          <p:nvPr>
            <p:ph type="ctrTitle"/>
          </p:nvPr>
        </p:nvSpPr>
        <p:spPr/>
        <p:txBody>
          <a:bodyPr/>
          <a:lstStyle/>
          <a:p>
            <a:r>
              <a:t>Mortality Modeling with GenAI</a:t>
            </a:r>
          </a:p>
        </p:txBody>
      </p:sp>
      <p:sp>
        <p:nvSpPr>
          <p:cNvPr id="3" name="Subtitle 2">
            <a:extLst>
              <a:ext uri="{FF2B5EF4-FFF2-40B4-BE49-F238E27FC236}">
                <a16:creationId xmlns:a16="http://schemas.microsoft.com/office/drawing/2014/main" id="{9DB66733-EC71-0E10-1010-A1344E00A815}"/>
              </a:ext>
            </a:extLst>
          </p:cNvPr>
          <p:cNvSpPr>
            <a:spLocks noGrp="1"/>
          </p:cNvSpPr>
          <p:nvPr>
            <p:ph type="subTitle" idx="1"/>
          </p:nvPr>
        </p:nvSpPr>
        <p:spPr/>
        <p:txBody>
          <a:bodyPr/>
          <a:lstStyle/>
          <a:p>
            <a:r>
              <a:t>NHANES Health Mortality Analysis</a:t>
            </a:r>
          </a:p>
        </p:txBody>
      </p:sp>
      <p:sp>
        <p:nvSpPr>
          <p:cNvPr id="4" name="Subtitle 2">
            <a:extLst>
              <a:ext uri="{FF2B5EF4-FFF2-40B4-BE49-F238E27FC236}">
                <a16:creationId xmlns:a16="http://schemas.microsoft.com/office/drawing/2014/main" id="{2DAC85DD-905B-8DF2-C9C5-E06A6245F8A0}"/>
              </a:ext>
            </a:extLst>
          </p:cNvPr>
          <p:cNvSpPr txBox="1">
            <a:spLocks/>
          </p:cNvSpPr>
          <p:nvPr/>
        </p:nvSpPr>
        <p:spPr>
          <a:xfrm>
            <a:off x="683740" y="4868561"/>
            <a:ext cx="9144000" cy="435451"/>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lang="en-US" sz="2400" b="1" i="0" kern="1200" dirty="0">
                <a:solidFill>
                  <a:schemeClr val="bg1"/>
                </a:solidFill>
                <a:latin typeface="Tenorite" pitchFamily="2" charset="0"/>
                <a:ea typeface="+mj-ea"/>
                <a:cs typeface="+mj-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t>Michael Niemerg</a:t>
            </a:r>
          </a:p>
        </p:txBody>
      </p:sp>
    </p:spTree>
    <p:extLst>
      <p:ext uri="{BB962C8B-B14F-4D97-AF65-F5344CB8AC3E}">
        <p14:creationId xmlns:p14="http://schemas.microsoft.com/office/powerpoint/2010/main" val="4283971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Role of AI in This Project</a:t>
            </a:r>
          </a:p>
        </p:txBody>
      </p:sp>
      <p:sp>
        <p:nvSpPr>
          <p:cNvPr id="3" name="Content Placeholder 2"/>
          <p:cNvSpPr>
            <a:spLocks noGrp="1"/>
          </p:cNvSpPr>
          <p:nvPr>
            <p:ph idx="1"/>
          </p:nvPr>
        </p:nvSpPr>
        <p:spPr/>
        <p:txBody>
          <a:bodyPr/>
          <a:lstStyle/>
          <a:p>
            <a:pPr>
              <a:spcBef>
                <a:spcPts val="300"/>
              </a:spcBef>
              <a:spcAft>
                <a:spcPts val="300"/>
              </a:spcAft>
            </a:pPr>
            <a:r>
              <a:rPr sz="1600"/>
              <a:t>Every artifact was produced by Claude (Anthropic) through conversation</a:t>
            </a:r>
          </a:p>
          <a:p>
            <a:pPr>
              <a:spcBef>
                <a:spcPts val="600"/>
              </a:spcBef>
            </a:pPr>
            <a:endParaRPr sz="1600"/>
          </a:p>
          <a:p>
            <a:pPr>
              <a:spcBef>
                <a:spcPts val="300"/>
              </a:spcBef>
              <a:spcAft>
                <a:spcPts val="300"/>
              </a:spcAft>
            </a:pPr>
            <a:r>
              <a:rPr sz="1600"/>
              <a:t>Claude wrote all Python scripts</a:t>
            </a:r>
          </a:p>
          <a:p>
            <a:pPr>
              <a:spcBef>
                <a:spcPts val="300"/>
              </a:spcBef>
              <a:spcAft>
                <a:spcPts val="300"/>
              </a:spcAft>
            </a:pPr>
            <a:r>
              <a:rPr sz="1600"/>
              <a:t>Downloaded and parsed CDC data files</a:t>
            </a:r>
          </a:p>
          <a:p>
            <a:pPr>
              <a:spcBef>
                <a:spcPts val="300"/>
              </a:spcBef>
              <a:spcAft>
                <a:spcPts val="300"/>
              </a:spcAft>
            </a:pPr>
            <a:r>
              <a:rPr sz="1600"/>
              <a:t>Trained and validated XGBoost models</a:t>
            </a:r>
          </a:p>
          <a:p>
            <a:pPr>
              <a:spcBef>
                <a:spcPts val="300"/>
              </a:spcBef>
              <a:spcAft>
                <a:spcPts val="300"/>
              </a:spcAft>
            </a:pPr>
            <a:r>
              <a:rPr sz="1600"/>
              <a:t>Ran A/E analysis comparing NHANES to CDC population mortality</a:t>
            </a:r>
          </a:p>
          <a:p>
            <a:pPr>
              <a:spcBef>
                <a:spcPts val="300"/>
              </a:spcBef>
              <a:spcAft>
                <a:spcPts val="300"/>
              </a:spcAft>
            </a:pPr>
            <a:r>
              <a:rPr sz="1600"/>
              <a:t>Generated all charts, summary tables, and statistics</a:t>
            </a:r>
          </a:p>
          <a:p>
            <a:pPr>
              <a:spcBef>
                <a:spcPts val="300"/>
              </a:spcBef>
              <a:spcAft>
                <a:spcPts val="300"/>
              </a:spcAft>
            </a:pPr>
            <a:r>
              <a:rPr sz="1600"/>
              <a:t>Wrote the technical documentation</a:t>
            </a:r>
          </a:p>
          <a:p>
            <a:pPr>
              <a:spcBef>
                <a:spcPts val="300"/>
              </a:spcBef>
              <a:spcAft>
                <a:spcPts val="300"/>
              </a:spcAft>
            </a:pPr>
            <a:r>
              <a:rPr sz="1600"/>
              <a:t>Created the project directory structure and all folders</a:t>
            </a:r>
          </a:p>
          <a:p>
            <a:pPr>
              <a:spcBef>
                <a:spcPts val="300"/>
              </a:spcBef>
              <a:spcAft>
                <a:spcPts val="300"/>
              </a:spcAft>
            </a:pPr>
            <a:r>
              <a:rPr sz="1600"/>
              <a:t>Handled version control and commits with GitHub</a:t>
            </a:r>
          </a:p>
          <a:p>
            <a:pPr>
              <a:spcBef>
                <a:spcPts val="300"/>
              </a:spcBef>
              <a:spcAft>
                <a:spcPts val="300"/>
              </a:spcAft>
            </a:pPr>
            <a:r>
              <a:rPr sz="1600"/>
              <a:t>Built this presentation from the existing template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What I Did</a:t>
            </a:r>
          </a:p>
        </p:txBody>
      </p:sp>
      <p:sp>
        <p:nvSpPr>
          <p:cNvPr id="3" name="Content Placeholder 2"/>
          <p:cNvSpPr>
            <a:spLocks noGrp="1"/>
          </p:cNvSpPr>
          <p:nvPr>
            <p:ph idx="1"/>
          </p:nvPr>
        </p:nvSpPr>
        <p:spPr/>
        <p:txBody>
          <a:bodyPr/>
          <a:lstStyle/>
          <a:p>
            <a:pPr>
              <a:spcBef>
                <a:spcPts val="300"/>
              </a:spcBef>
              <a:spcAft>
                <a:spcPts val="300"/>
              </a:spcAft>
            </a:pPr>
            <a:r>
              <a:rPr sz="1600"/>
              <a:t>Made methodological decisions when presented with options</a:t>
            </a:r>
          </a:p>
          <a:p>
            <a:pPr lvl="1">
              <a:spcBef>
                <a:spcPts val="300"/>
              </a:spcBef>
              <a:spcAft>
                <a:spcPts val="300"/>
              </a:spcAft>
            </a:pPr>
            <a:r>
              <a:rPr sz="1400"/>
              <a:t>Whether to use raw CDC table or an adjusted version</a:t>
            </a:r>
          </a:p>
          <a:p>
            <a:pPr lvl="1">
              <a:spcBef>
                <a:spcPts val="300"/>
              </a:spcBef>
              <a:spcAft>
                <a:spcPts val="300"/>
              </a:spcAft>
            </a:pPr>
            <a:r>
              <a:rPr sz="1400"/>
              <a:t>Which hyperparameter configurations to pursue</a:t>
            </a:r>
          </a:p>
          <a:p>
            <a:pPr lvl="1">
              <a:spcBef>
                <a:spcPts val="300"/>
              </a:spcBef>
              <a:spcAft>
                <a:spcPts val="300"/>
              </a:spcAft>
            </a:pPr>
            <a:r>
              <a:rPr sz="1400"/>
              <a:t>Which experiments to run</a:t>
            </a:r>
          </a:p>
          <a:p>
            <a:pPr>
              <a:spcBef>
                <a:spcPts val="300"/>
              </a:spcBef>
              <a:spcAft>
                <a:spcPts val="300"/>
              </a:spcAft>
            </a:pPr>
            <a:r>
              <a:rPr sz="1600"/>
              <a:t>Extensive peer review of Claude’s work</a:t>
            </a:r>
          </a:p>
          <a:p>
            <a:pPr>
              <a:spcBef>
                <a:spcPts val="600"/>
              </a:spcBef>
            </a:pPr>
            <a:endParaRPr sz="1600"/>
          </a:p>
          <a:p>
            <a:pPr>
              <a:spcBef>
                <a:spcPts val="300"/>
              </a:spcBef>
              <a:spcAft>
                <a:spcPts val="300"/>
              </a:spcAft>
            </a:pPr>
            <a:r>
              <a:rPr sz="1600"/>
              <a:t>The human did not:</a:t>
            </a:r>
          </a:p>
          <a:p>
            <a:pPr lvl="1">
              <a:spcBef>
                <a:spcPts val="300"/>
              </a:spcBef>
              <a:spcAft>
                <a:spcPts val="300"/>
              </a:spcAft>
            </a:pPr>
            <a:r>
              <a:rPr sz="1400"/>
              <a:t>Write or edit any code</a:t>
            </a:r>
          </a:p>
          <a:p>
            <a:pPr lvl="1">
              <a:spcBef>
                <a:spcPts val="300"/>
              </a:spcBef>
              <a:spcAft>
                <a:spcPts val="300"/>
              </a:spcAft>
            </a:pPr>
            <a:r>
              <a:rPr sz="1400"/>
              <a:t>Create any files or folders manually</a:t>
            </a:r>
          </a:p>
          <a:p>
            <a:pPr lvl="1">
              <a:spcBef>
                <a:spcPts val="300"/>
              </a:spcBef>
              <a:spcAft>
                <a:spcPts val="300"/>
              </a:spcAft>
            </a:pPr>
            <a:r>
              <a:rPr sz="1400"/>
              <a:t>Run any scripts (not even from a terminal)</a:t>
            </a:r>
          </a:p>
          <a:p>
            <a:pPr lvl="1">
              <a:spcBef>
                <a:spcPts val="300"/>
              </a:spcBef>
              <a:spcAft>
                <a:spcPts val="300"/>
              </a:spcAft>
            </a:pPr>
            <a:r>
              <a:rPr sz="1400"/>
              <a:t>Use git or GitHub directly</a:t>
            </a:r>
          </a:p>
          <a:p>
            <a:pPr lvl="1">
              <a:spcBef>
                <a:spcPts val="300"/>
              </a:spcBef>
              <a:spcAft>
                <a:spcPts val="300"/>
              </a:spcAft>
            </a:pPr>
            <a:r>
              <a:rPr sz="1400"/>
              <a:t>Directly use PowerPoint, Word, or Excel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Research Question</a:t>
            </a:r>
          </a:p>
        </p:txBody>
      </p:sp>
      <p:sp>
        <p:nvSpPr>
          <p:cNvPr id="3" name="Content Placeholder 2"/>
          <p:cNvSpPr>
            <a:spLocks noGrp="1"/>
          </p:cNvSpPr>
          <p:nvPr>
            <p:ph idx="1"/>
          </p:nvPr>
        </p:nvSpPr>
        <p:spPr/>
        <p:txBody>
          <a:bodyPr/>
          <a:lstStyle/>
          <a:p>
            <a:pPr>
              <a:spcBef>
                <a:spcPts val="300"/>
              </a:spcBef>
              <a:spcAft>
                <a:spcPts val="300"/>
              </a:spcAft>
            </a:pPr>
            <a:r>
              <a:rPr sz="1600"/>
              <a:t>Can we predict individual mortality from a single health assessment, and how durable is that mortality estimate?</a:t>
            </a:r>
          </a:p>
          <a:p>
            <a:pPr>
              <a:spcBef>
                <a:spcPts val="600"/>
              </a:spcBef>
            </a:pPr>
            <a:endParaRPr sz="1600"/>
          </a:p>
          <a:p>
            <a:pPr>
              <a:spcBef>
                <a:spcPts val="300"/>
              </a:spcBef>
              <a:spcAft>
                <a:spcPts val="300"/>
              </a:spcAft>
            </a:pPr>
            <a:r>
              <a:rPr sz="1600"/>
              <a:t>Specifically:</a:t>
            </a:r>
          </a:p>
          <a:p>
            <a:pPr lvl="1">
              <a:spcBef>
                <a:spcPts val="300"/>
              </a:spcBef>
              <a:spcAft>
                <a:spcPts val="300"/>
              </a:spcAft>
            </a:pPr>
            <a:r>
              <a:rPr sz="1400"/>
              <a:t>Train models to estimate annual death probabilities from exam data</a:t>
            </a:r>
          </a:p>
          <a:p>
            <a:pPr lvl="1">
              <a:spcBef>
                <a:spcPts val="300"/>
              </a:spcBef>
              <a:spcAft>
                <a:spcPts val="300"/>
              </a:spcAft>
            </a:pPr>
            <a:r>
              <a:rPr sz="1400"/>
              <a:t>Test whether predictions remain valid beyond the training window</a:t>
            </a:r>
          </a:p>
          <a:p>
            <a:pPr lvl="1">
              <a:spcBef>
                <a:spcPts val="300"/>
              </a:spcBef>
              <a:spcAft>
                <a:spcPts val="300"/>
              </a:spcAft>
            </a:pPr>
            <a:r>
              <a:rPr sz="1400"/>
              <a:t>Quantify the rate at which individual risk converges to population</a:t>
            </a:r>
          </a:p>
          <a:p>
            <a:pPr>
              <a:spcBef>
                <a:spcPts val="600"/>
              </a:spcBef>
            </a:pPr>
            <a:endParaRPr sz="1400"/>
          </a:p>
          <a:p>
            <a:pPr>
              <a:spcBef>
                <a:spcPts val="300"/>
              </a:spcBef>
              <a:spcAft>
                <a:spcPts val="300"/>
              </a:spcAft>
            </a:pPr>
            <a:r>
              <a:rPr sz="1600"/>
              <a:t>NHANES: CDC health survey with clinical exams, linked to death records</a:t>
            </a:r>
          </a:p>
          <a:p>
            <a:pPr>
              <a:spcBef>
                <a:spcPts val="300"/>
              </a:spcBef>
              <a:spcAft>
                <a:spcPts val="300"/>
              </a:spcAft>
            </a:pPr>
            <a:r>
              <a:rPr sz="1600"/>
              <a:t>CDC Life Table: Published U.S. population mortality rates by age and sex</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Methodology</a:t>
            </a:r>
          </a:p>
        </p:txBody>
      </p:sp>
      <p:sp>
        <p:nvSpPr>
          <p:cNvPr id="3" name="Content Placeholder 2"/>
          <p:cNvSpPr>
            <a:spLocks noGrp="1"/>
          </p:cNvSpPr>
          <p:nvPr>
            <p:ph idx="1"/>
          </p:nvPr>
        </p:nvSpPr>
        <p:spPr/>
        <p:txBody>
          <a:bodyPr/>
          <a:lstStyle/>
          <a:p>
            <a:pPr>
              <a:spcBef>
                <a:spcPts val="400"/>
              </a:spcBef>
              <a:spcAft>
                <a:spcPts val="400"/>
              </a:spcAft>
            </a:pPr>
            <a:r>
              <a:rPr sz="1700" b="1" dirty="0"/>
              <a:t>Data: </a:t>
            </a:r>
            <a:r>
              <a:rPr sz="1500" dirty="0"/>
              <a:t>Combine 10 NHANES cycles with mortality linkage</a:t>
            </a:r>
          </a:p>
          <a:p>
            <a:pPr>
              <a:spcBef>
                <a:spcPts val="400"/>
              </a:spcBef>
              <a:spcAft>
                <a:spcPts val="400"/>
              </a:spcAft>
            </a:pPr>
            <a:r>
              <a:rPr sz="1700" b="1" dirty="0"/>
              <a:t>Preprocessing: </a:t>
            </a:r>
            <a:r>
              <a:rPr sz="1500" dirty="0"/>
              <a:t>Define conditional annual outcomes for years 1–5</a:t>
            </a:r>
          </a:p>
          <a:p>
            <a:pPr>
              <a:spcBef>
                <a:spcPts val="400"/>
              </a:spcBef>
              <a:spcAft>
                <a:spcPts val="400"/>
              </a:spcAft>
            </a:pPr>
            <a:r>
              <a:rPr sz="1700" b="1" dirty="0"/>
              <a:t>Models: </a:t>
            </a:r>
            <a:r>
              <a:rPr sz="1500" dirty="0"/>
              <a:t>Train 5 annual </a:t>
            </a:r>
            <a:r>
              <a:rPr sz="1500" dirty="0" err="1"/>
              <a:t>XGBoost</a:t>
            </a:r>
            <a:r>
              <a:rPr sz="1500" dirty="0"/>
              <a:t> classifiers — 1 per duration</a:t>
            </a:r>
          </a:p>
          <a:p>
            <a:pPr>
              <a:spcBef>
                <a:spcPts val="400"/>
              </a:spcBef>
              <a:spcAft>
                <a:spcPts val="400"/>
              </a:spcAft>
            </a:pPr>
            <a:r>
              <a:rPr sz="1700" b="1" dirty="0"/>
              <a:t>Composition: </a:t>
            </a:r>
            <a:r>
              <a:rPr sz="1500" dirty="0"/>
              <a:t>Chain annual </a:t>
            </a:r>
            <a:r>
              <a:rPr sz="1500" dirty="0" err="1"/>
              <a:t>qx</a:t>
            </a:r>
            <a:r>
              <a:rPr sz="1500" dirty="0"/>
              <a:t> into multi-year survival via S(t) = ∏(1−qk)</a:t>
            </a:r>
          </a:p>
          <a:p>
            <a:pPr>
              <a:spcBef>
                <a:spcPts val="400"/>
              </a:spcBef>
              <a:spcAft>
                <a:spcPts val="400"/>
              </a:spcAft>
            </a:pPr>
            <a:r>
              <a:rPr sz="1700" b="1" dirty="0"/>
              <a:t>Benchmark: </a:t>
            </a:r>
            <a:r>
              <a:rPr sz="1500" dirty="0"/>
              <a:t>CDC 2021 U.S. period life table</a:t>
            </a:r>
          </a:p>
          <a:p>
            <a:pPr>
              <a:spcBef>
                <a:spcPts val="400"/>
              </a:spcBef>
              <a:spcAft>
                <a:spcPts val="400"/>
              </a:spcAft>
            </a:pPr>
            <a:r>
              <a:rPr sz="1700" b="1" dirty="0"/>
              <a:t>Relative Mortality: </a:t>
            </a:r>
            <a:r>
              <a:rPr sz="1500" dirty="0"/>
              <a:t>Model </a:t>
            </a:r>
            <a:r>
              <a:rPr sz="1500" dirty="0" err="1"/>
              <a:t>qx</a:t>
            </a:r>
            <a:r>
              <a:rPr sz="1500" dirty="0"/>
              <a:t> / CDC </a:t>
            </a:r>
            <a:r>
              <a:rPr sz="1500" dirty="0" err="1"/>
              <a:t>qx</a:t>
            </a:r>
            <a:endParaRPr sz="1500" dirty="0"/>
          </a:p>
          <a:p>
            <a:pPr>
              <a:spcBef>
                <a:spcPts val="400"/>
              </a:spcBef>
              <a:spcAft>
                <a:spcPts val="400"/>
              </a:spcAft>
            </a:pPr>
            <a:r>
              <a:rPr sz="1700" b="1" dirty="0"/>
              <a:t>A/E Analysis: </a:t>
            </a:r>
            <a:r>
              <a:rPr sz="1500" dirty="0"/>
              <a:t>Compare NHANES deaths to CDC expected by age and duration</a:t>
            </a:r>
          </a:p>
          <a:p>
            <a:pPr>
              <a:spcBef>
                <a:spcPts val="400"/>
              </a:spcBef>
              <a:spcAft>
                <a:spcPts val="400"/>
              </a:spcAft>
            </a:pPr>
            <a:r>
              <a:rPr sz="1700" b="1" dirty="0"/>
              <a:t>Projection: </a:t>
            </a:r>
            <a:r>
              <a:rPr sz="1500" dirty="0"/>
              <a:t>Grade relativities toward population using observed decay rate</a:t>
            </a:r>
          </a:p>
          <a:p>
            <a:pPr>
              <a:spcBef>
                <a:spcPts val="400"/>
              </a:spcBef>
              <a:spcAft>
                <a:spcPts val="400"/>
              </a:spcAft>
            </a:pPr>
            <a:r>
              <a:rPr sz="1700" b="1" dirty="0"/>
              <a:t>Mortality Tables: </a:t>
            </a:r>
            <a:r>
              <a:rPr sz="1500" dirty="0"/>
              <a:t>Individual life tables from exam age through age 100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dirty="0"/>
              <a:t>23 Predictors Across 6 Domains</a:t>
            </a:r>
          </a:p>
        </p:txBody>
      </p:sp>
      <p:sp>
        <p:nvSpPr>
          <p:cNvPr id="3" name="Content Placeholder 2"/>
          <p:cNvSpPr>
            <a:spLocks noGrp="1"/>
          </p:cNvSpPr>
          <p:nvPr>
            <p:ph idx="1"/>
          </p:nvPr>
        </p:nvSpPr>
        <p:spPr/>
        <p:txBody>
          <a:bodyPr/>
          <a:lstStyle/>
          <a:p>
            <a:pPr>
              <a:spcBef>
                <a:spcPts val="300"/>
              </a:spcBef>
              <a:spcAft>
                <a:spcPts val="300"/>
              </a:spcAft>
            </a:pPr>
            <a:r>
              <a:rPr sz="1600" dirty="0"/>
              <a:t>Demographics (7): Age, sex, race/ethnicity, education, income-to-poverty ratio</a:t>
            </a:r>
          </a:p>
          <a:p>
            <a:pPr>
              <a:spcBef>
                <a:spcPts val="300"/>
              </a:spcBef>
              <a:spcAft>
                <a:spcPts val="300"/>
              </a:spcAft>
            </a:pPr>
            <a:r>
              <a:rPr sz="1600" dirty="0"/>
              <a:t>Clinical (6): BMI, waist circumference, systolic BP, diastolic BP, cholesterol, HbA1c</a:t>
            </a:r>
          </a:p>
          <a:p>
            <a:pPr>
              <a:spcBef>
                <a:spcPts val="300"/>
              </a:spcBef>
              <a:spcAft>
                <a:spcPts val="300"/>
              </a:spcAft>
            </a:pPr>
            <a:r>
              <a:rPr sz="1600" dirty="0"/>
              <a:t>Smoking (2): Lifetime 100+ cigarettes, current status</a:t>
            </a:r>
          </a:p>
          <a:p>
            <a:pPr>
              <a:spcBef>
                <a:spcPts val="300"/>
              </a:spcBef>
              <a:spcAft>
                <a:spcPts val="300"/>
              </a:spcAft>
            </a:pPr>
            <a:r>
              <a:rPr sz="1600" dirty="0"/>
              <a:t>Alcohol (2): Past-year drinking, frequency</a:t>
            </a:r>
          </a:p>
          <a:p>
            <a:pPr>
              <a:spcBef>
                <a:spcPts val="300"/>
              </a:spcBef>
              <a:spcAft>
                <a:spcPts val="300"/>
              </a:spcAft>
            </a:pPr>
            <a:r>
              <a:rPr sz="1600" dirty="0"/>
              <a:t>Diabetes (1): Diagnosis status (no / borderline / yes)</a:t>
            </a:r>
          </a:p>
          <a:p>
            <a:pPr>
              <a:spcBef>
                <a:spcPts val="300"/>
              </a:spcBef>
              <a:spcAft>
                <a:spcPts val="300"/>
              </a:spcAft>
            </a:pPr>
            <a:r>
              <a:rPr sz="1600" dirty="0"/>
              <a:t>Medical history (4): CHF, CHD, stroke, cancer</a:t>
            </a:r>
          </a:p>
          <a:p>
            <a:pPr>
              <a:spcBef>
                <a:spcPts val="600"/>
              </a:spcBef>
            </a:pPr>
            <a:endParaRPr sz="1600" dirty="0"/>
          </a:p>
          <a:p>
            <a:pPr>
              <a:spcBef>
                <a:spcPts val="300"/>
              </a:spcBef>
              <a:spcAft>
                <a:spcPts val="300"/>
              </a:spcAft>
            </a:pPr>
            <a:r>
              <a:rPr sz="1600" dirty="0"/>
              <a:t>All measured once at exam; no longitudinal updates</a:t>
            </a:r>
          </a:p>
          <a:p>
            <a:pPr>
              <a:spcBef>
                <a:spcPts val="300"/>
              </a:spcBef>
              <a:spcAft>
                <a:spcPts val="300"/>
              </a:spcAft>
            </a:pPr>
            <a:r>
              <a:rPr sz="1600" dirty="0"/>
              <a:t>No imputation — </a:t>
            </a:r>
            <a:r>
              <a:rPr sz="1600" dirty="0" err="1"/>
              <a:t>XGBoost</a:t>
            </a:r>
            <a:r>
              <a:rPr sz="1600" dirty="0"/>
              <a:t> handles missing values natively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2800" b="1"/>
              <a:t>Model Performance (Test Set)</a:t>
            </a:r>
          </a:p>
          <a:p>
            <a:pPr algn="ctr"/>
            <a:r>
              <a:rPr sz="1200" i="1">
                <a:solidFill>
                  <a:srgbClr val="666666"/>
                </a:solidFill>
              </a:rPr>
              <a:t>Calibration = sum(predicted) / actual deaths;  target = 1.000  |  Composed 5-year calibration: 0.925</a:t>
            </a:r>
          </a:p>
        </p:txBody>
      </p:sp>
      <p:graphicFrame>
        <p:nvGraphicFramePr>
          <p:cNvPr id="3" name="Table 2"/>
          <p:cNvGraphicFramePr>
            <a:graphicFrameLocks noGrp="1"/>
          </p:cNvGraphicFramePr>
          <p:nvPr/>
        </p:nvGraphicFramePr>
        <p:xfrm>
          <a:off x="2621127" y="2011680"/>
          <a:ext cx="6949440" cy="274320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457200">
                <a:tc>
                  <a:txBody>
                    <a:bodyPr/>
                    <a:lstStyle/>
                    <a:p>
                      <a:pPr algn="ctr">
                        <a:defRPr sz="1400" b="1"/>
                      </a:pPr>
                      <a:r>
                        <a:rPr>
                          <a:solidFill>
                            <a:srgbClr val="FFFFFF"/>
                          </a:solidFill>
                        </a:rPr>
                        <a:t>Year</a:t>
                      </a:r>
                    </a:p>
                  </a:txBody>
                  <a:tcPr>
                    <a:solidFill>
                      <a:srgbClr val="2C3E50"/>
                    </a:solidFill>
                  </a:tcPr>
                </a:tc>
                <a:tc>
                  <a:txBody>
                    <a:bodyPr/>
                    <a:lstStyle/>
                    <a:p>
                      <a:pPr algn="ctr">
                        <a:defRPr sz="1400" b="1"/>
                      </a:pPr>
                      <a:r>
                        <a:rPr>
                          <a:solidFill>
                            <a:srgbClr val="FFFFFF"/>
                          </a:solidFill>
                        </a:rPr>
                        <a:t>AUC-ROC</a:t>
                      </a:r>
                    </a:p>
                  </a:txBody>
                  <a:tcPr>
                    <a:solidFill>
                      <a:srgbClr val="2C3E50"/>
                    </a:solidFill>
                  </a:tcPr>
                </a:tc>
                <a:tc>
                  <a:txBody>
                    <a:bodyPr/>
                    <a:lstStyle/>
                    <a:p>
                      <a:pPr algn="ctr">
                        <a:defRPr sz="1400" b="1"/>
                      </a:pPr>
                      <a:r>
                        <a:rPr>
                          <a:solidFill>
                            <a:srgbClr val="FFFFFF"/>
                          </a:solidFill>
                        </a:rPr>
                        <a:t>Calibration</a:t>
                      </a:r>
                    </a:p>
                  </a:txBody>
                  <a:tcPr>
                    <a:solidFill>
                      <a:srgbClr val="2C3E50"/>
                    </a:solidFill>
                  </a:tcPr>
                </a:tc>
                <a:tc>
                  <a:txBody>
                    <a:bodyPr/>
                    <a:lstStyle/>
                    <a:p>
                      <a:pPr algn="ctr">
                        <a:defRPr sz="1400" b="1"/>
                      </a:pPr>
                      <a:r>
                        <a:rPr>
                          <a:solidFill>
                            <a:srgbClr val="FFFFFF"/>
                          </a:solidFill>
                        </a:rPr>
                        <a:t>Brier Score</a:t>
                      </a:r>
                    </a:p>
                  </a:txBody>
                  <a:tcPr>
                    <a:solidFill>
                      <a:srgbClr val="2C3E50"/>
                    </a:solidFill>
                  </a:tcPr>
                </a:tc>
                <a:tc>
                  <a:txBody>
                    <a:bodyPr/>
                    <a:lstStyle/>
                    <a:p>
                      <a:pPr algn="ctr">
                        <a:defRPr sz="1400" b="1"/>
                      </a:pPr>
                      <a:r>
                        <a:rPr>
                          <a:solidFill>
                            <a:srgbClr val="FFFFFF"/>
                          </a:solidFill>
                        </a:rPr>
                        <a:t>Test N</a:t>
                      </a:r>
                    </a:p>
                  </a:txBody>
                  <a:tcPr>
                    <a:solidFill>
                      <a:srgbClr val="2C3E50"/>
                    </a:solidFill>
                  </a:tcPr>
                </a:tc>
                <a:tc>
                  <a:txBody>
                    <a:bodyPr/>
                    <a:lstStyle/>
                    <a:p>
                      <a:pPr algn="ctr">
                        <a:defRPr sz="1400" b="1"/>
                      </a:pPr>
                      <a:r>
                        <a:rPr>
                          <a:solidFill>
                            <a:srgbClr val="FFFFFF"/>
                          </a:solidFill>
                        </a:rPr>
                        <a:t>Deaths</a:t>
                      </a:r>
                    </a:p>
                  </a:txBody>
                  <a:tcPr>
                    <a:solidFill>
                      <a:srgbClr val="2C3E50"/>
                    </a:solidFill>
                  </a:tcPr>
                </a:tc>
                <a:extLst>
                  <a:ext uri="{0D108BD9-81ED-4DB2-BD59-A6C34878D82A}">
                    <a16:rowId xmlns:a16="http://schemas.microsoft.com/office/drawing/2014/main" val="10000"/>
                  </a:ext>
                </a:extLst>
              </a:tr>
              <a:tr h="457200">
                <a:tc>
                  <a:txBody>
                    <a:bodyPr/>
                    <a:lstStyle/>
                    <a:p>
                      <a:pPr algn="ctr">
                        <a:defRPr sz="1400"/>
                      </a:pPr>
                      <a:r>
                        <a:t>1</a:t>
                      </a:r>
                    </a:p>
                  </a:txBody>
                  <a:tcPr/>
                </a:tc>
                <a:tc>
                  <a:txBody>
                    <a:bodyPr/>
                    <a:lstStyle/>
                    <a:p>
                      <a:pPr algn="ctr">
                        <a:defRPr sz="1400"/>
                      </a:pPr>
                      <a:r>
                        <a:t>0.884</a:t>
                      </a:r>
                    </a:p>
                  </a:txBody>
                  <a:tcPr/>
                </a:tc>
                <a:tc>
                  <a:txBody>
                    <a:bodyPr/>
                    <a:lstStyle/>
                    <a:p>
                      <a:pPr algn="ctr">
                        <a:defRPr sz="1400"/>
                      </a:pPr>
                      <a:r>
                        <a:t>1.010</a:t>
                      </a:r>
                    </a:p>
                  </a:txBody>
                  <a:tcPr/>
                </a:tc>
                <a:tc>
                  <a:txBody>
                    <a:bodyPr/>
                    <a:lstStyle/>
                    <a:p>
                      <a:pPr algn="ctr">
                        <a:defRPr sz="1400"/>
                      </a:pPr>
                      <a:r>
                        <a:t>0.010</a:t>
                      </a:r>
                    </a:p>
                  </a:txBody>
                  <a:tcPr/>
                </a:tc>
                <a:tc>
                  <a:txBody>
                    <a:bodyPr/>
                    <a:lstStyle/>
                    <a:p>
                      <a:pPr algn="ctr">
                        <a:defRPr sz="1400"/>
                      </a:pPr>
                      <a:r>
                        <a:t>16,829</a:t>
                      </a:r>
                    </a:p>
                  </a:txBody>
                  <a:tcPr/>
                </a:tc>
                <a:tc>
                  <a:txBody>
                    <a:bodyPr/>
                    <a:lstStyle/>
                    <a:p>
                      <a:pPr algn="ctr">
                        <a:defRPr sz="1400"/>
                      </a:pPr>
                      <a:r>
                        <a:t>178</a:t>
                      </a:r>
                    </a:p>
                  </a:txBody>
                  <a:tcPr/>
                </a:tc>
                <a:extLst>
                  <a:ext uri="{0D108BD9-81ED-4DB2-BD59-A6C34878D82A}">
                    <a16:rowId xmlns:a16="http://schemas.microsoft.com/office/drawing/2014/main" val="10001"/>
                  </a:ext>
                </a:extLst>
              </a:tr>
              <a:tr h="457200">
                <a:tc>
                  <a:txBody>
                    <a:bodyPr/>
                    <a:lstStyle/>
                    <a:p>
                      <a:pPr algn="ctr">
                        <a:defRPr sz="1400"/>
                      </a:pPr>
                      <a:r>
                        <a:t>2</a:t>
                      </a:r>
                    </a:p>
                  </a:txBody>
                  <a:tcPr>
                    <a:solidFill>
                      <a:srgbClr val="ECF0F1"/>
                    </a:solidFill>
                  </a:tcPr>
                </a:tc>
                <a:tc>
                  <a:txBody>
                    <a:bodyPr/>
                    <a:lstStyle/>
                    <a:p>
                      <a:pPr algn="ctr">
                        <a:defRPr sz="1400"/>
                      </a:pPr>
                      <a:r>
                        <a:t>0.857</a:t>
                      </a:r>
                    </a:p>
                  </a:txBody>
                  <a:tcPr>
                    <a:solidFill>
                      <a:srgbClr val="ECF0F1"/>
                    </a:solidFill>
                  </a:tcPr>
                </a:tc>
                <a:tc>
                  <a:txBody>
                    <a:bodyPr/>
                    <a:lstStyle/>
                    <a:p>
                      <a:pPr algn="ctr">
                        <a:defRPr sz="1400"/>
                      </a:pPr>
                      <a:r>
                        <a:t>1.062</a:t>
                      </a:r>
                    </a:p>
                  </a:txBody>
                  <a:tcPr>
                    <a:solidFill>
                      <a:srgbClr val="ECF0F1"/>
                    </a:solidFill>
                  </a:tcPr>
                </a:tc>
                <a:tc>
                  <a:txBody>
                    <a:bodyPr/>
                    <a:lstStyle/>
                    <a:p>
                      <a:pPr algn="ctr">
                        <a:defRPr sz="1400"/>
                      </a:pPr>
                      <a:r>
                        <a:t>0.011</a:t>
                      </a:r>
                    </a:p>
                  </a:txBody>
                  <a:tcPr>
                    <a:solidFill>
                      <a:srgbClr val="ECF0F1"/>
                    </a:solidFill>
                  </a:tcPr>
                </a:tc>
                <a:tc>
                  <a:txBody>
                    <a:bodyPr/>
                    <a:lstStyle/>
                    <a:p>
                      <a:pPr algn="ctr">
                        <a:defRPr sz="1400"/>
                      </a:pPr>
                      <a:r>
                        <a:t>15,886</a:t>
                      </a:r>
                    </a:p>
                  </a:txBody>
                  <a:tcPr>
                    <a:solidFill>
                      <a:srgbClr val="ECF0F1"/>
                    </a:solidFill>
                  </a:tcPr>
                </a:tc>
                <a:tc>
                  <a:txBody>
                    <a:bodyPr/>
                    <a:lstStyle/>
                    <a:p>
                      <a:pPr algn="ctr">
                        <a:defRPr sz="1400"/>
                      </a:pPr>
                      <a:r>
                        <a:t>183</a:t>
                      </a:r>
                    </a:p>
                  </a:txBody>
                  <a:tcPr>
                    <a:solidFill>
                      <a:srgbClr val="ECF0F1"/>
                    </a:solidFill>
                  </a:tcPr>
                </a:tc>
                <a:extLst>
                  <a:ext uri="{0D108BD9-81ED-4DB2-BD59-A6C34878D82A}">
                    <a16:rowId xmlns:a16="http://schemas.microsoft.com/office/drawing/2014/main" val="10002"/>
                  </a:ext>
                </a:extLst>
              </a:tr>
              <a:tr h="457200">
                <a:tc>
                  <a:txBody>
                    <a:bodyPr/>
                    <a:lstStyle/>
                    <a:p>
                      <a:pPr algn="ctr">
                        <a:defRPr sz="1400"/>
                      </a:pPr>
                      <a:r>
                        <a:t>3</a:t>
                      </a:r>
                    </a:p>
                  </a:txBody>
                  <a:tcPr/>
                </a:tc>
                <a:tc>
                  <a:txBody>
                    <a:bodyPr/>
                    <a:lstStyle/>
                    <a:p>
                      <a:pPr algn="ctr">
                        <a:defRPr sz="1400"/>
                      </a:pPr>
                      <a:r>
                        <a:t>0.858</a:t>
                      </a:r>
                    </a:p>
                  </a:txBody>
                  <a:tcPr/>
                </a:tc>
                <a:tc>
                  <a:txBody>
                    <a:bodyPr/>
                    <a:lstStyle/>
                    <a:p>
                      <a:pPr algn="ctr">
                        <a:defRPr sz="1400"/>
                      </a:pPr>
                      <a:r>
                        <a:t>0.927</a:t>
                      </a:r>
                    </a:p>
                  </a:txBody>
                  <a:tcPr/>
                </a:tc>
                <a:tc>
                  <a:txBody>
                    <a:bodyPr/>
                    <a:lstStyle/>
                    <a:p>
                      <a:pPr algn="ctr">
                        <a:defRPr sz="1400"/>
                      </a:pPr>
                      <a:r>
                        <a:t>0.014</a:t>
                      </a:r>
                    </a:p>
                  </a:txBody>
                  <a:tcPr/>
                </a:tc>
                <a:tc>
                  <a:txBody>
                    <a:bodyPr/>
                    <a:lstStyle/>
                    <a:p>
                      <a:pPr algn="ctr">
                        <a:defRPr sz="1400"/>
                      </a:pPr>
                      <a:r>
                        <a:t>14,914</a:t>
                      </a:r>
                    </a:p>
                  </a:txBody>
                  <a:tcPr/>
                </a:tc>
                <a:tc>
                  <a:txBody>
                    <a:bodyPr/>
                    <a:lstStyle/>
                    <a:p>
                      <a:pPr algn="ctr">
                        <a:defRPr sz="1400"/>
                      </a:pPr>
                      <a:r>
                        <a:t>217</a:t>
                      </a:r>
                    </a:p>
                  </a:txBody>
                  <a:tcPr/>
                </a:tc>
                <a:extLst>
                  <a:ext uri="{0D108BD9-81ED-4DB2-BD59-A6C34878D82A}">
                    <a16:rowId xmlns:a16="http://schemas.microsoft.com/office/drawing/2014/main" val="10003"/>
                  </a:ext>
                </a:extLst>
              </a:tr>
              <a:tr h="457200">
                <a:tc>
                  <a:txBody>
                    <a:bodyPr/>
                    <a:lstStyle/>
                    <a:p>
                      <a:pPr algn="ctr">
                        <a:defRPr sz="1400"/>
                      </a:pPr>
                      <a:r>
                        <a:t>4</a:t>
                      </a:r>
                    </a:p>
                  </a:txBody>
                  <a:tcPr>
                    <a:solidFill>
                      <a:srgbClr val="ECF0F1"/>
                    </a:solidFill>
                  </a:tcPr>
                </a:tc>
                <a:tc>
                  <a:txBody>
                    <a:bodyPr/>
                    <a:lstStyle/>
                    <a:p>
                      <a:pPr algn="ctr">
                        <a:defRPr sz="1400"/>
                      </a:pPr>
                      <a:r>
                        <a:t>0.883</a:t>
                      </a:r>
                    </a:p>
                  </a:txBody>
                  <a:tcPr>
                    <a:solidFill>
                      <a:srgbClr val="ECF0F1"/>
                    </a:solidFill>
                  </a:tcPr>
                </a:tc>
                <a:tc>
                  <a:txBody>
                    <a:bodyPr/>
                    <a:lstStyle/>
                    <a:p>
                      <a:pPr algn="ctr">
                        <a:defRPr sz="1400"/>
                      </a:pPr>
                      <a:r>
                        <a:t>0.996</a:t>
                      </a:r>
                    </a:p>
                  </a:txBody>
                  <a:tcPr>
                    <a:solidFill>
                      <a:srgbClr val="ECF0F1"/>
                    </a:solidFill>
                  </a:tcPr>
                </a:tc>
                <a:tc>
                  <a:txBody>
                    <a:bodyPr/>
                    <a:lstStyle/>
                    <a:p>
                      <a:pPr algn="ctr">
                        <a:defRPr sz="1400"/>
                      </a:pPr>
                      <a:r>
                        <a:t>0.013</a:t>
                      </a:r>
                    </a:p>
                  </a:txBody>
                  <a:tcPr>
                    <a:solidFill>
                      <a:srgbClr val="ECF0F1"/>
                    </a:solidFill>
                  </a:tcPr>
                </a:tc>
                <a:tc>
                  <a:txBody>
                    <a:bodyPr/>
                    <a:lstStyle/>
                    <a:p>
                      <a:pPr algn="ctr">
                        <a:defRPr sz="1400"/>
                      </a:pPr>
                      <a:r>
                        <a:t>13,858</a:t>
                      </a:r>
                    </a:p>
                  </a:txBody>
                  <a:tcPr>
                    <a:solidFill>
                      <a:srgbClr val="ECF0F1"/>
                    </a:solidFill>
                  </a:tcPr>
                </a:tc>
                <a:tc>
                  <a:txBody>
                    <a:bodyPr/>
                    <a:lstStyle/>
                    <a:p>
                      <a:pPr algn="ctr">
                        <a:defRPr sz="1400"/>
                      </a:pPr>
                      <a:r>
                        <a:t>188</a:t>
                      </a:r>
                    </a:p>
                  </a:txBody>
                  <a:tcPr>
                    <a:solidFill>
                      <a:srgbClr val="ECF0F1"/>
                    </a:solidFill>
                  </a:tcPr>
                </a:tc>
                <a:extLst>
                  <a:ext uri="{0D108BD9-81ED-4DB2-BD59-A6C34878D82A}">
                    <a16:rowId xmlns:a16="http://schemas.microsoft.com/office/drawing/2014/main" val="10004"/>
                  </a:ext>
                </a:extLst>
              </a:tr>
              <a:tr h="457200">
                <a:tc>
                  <a:txBody>
                    <a:bodyPr/>
                    <a:lstStyle/>
                    <a:p>
                      <a:pPr algn="ctr">
                        <a:defRPr sz="1400"/>
                      </a:pPr>
                      <a:r>
                        <a:t>5</a:t>
                      </a:r>
                    </a:p>
                  </a:txBody>
                  <a:tcPr/>
                </a:tc>
                <a:tc>
                  <a:txBody>
                    <a:bodyPr/>
                    <a:lstStyle/>
                    <a:p>
                      <a:pPr algn="ctr">
                        <a:defRPr sz="1400"/>
                      </a:pPr>
                      <a:r>
                        <a:t>0.852</a:t>
                      </a:r>
                    </a:p>
                  </a:txBody>
                  <a:tcPr/>
                </a:tc>
                <a:tc>
                  <a:txBody>
                    <a:bodyPr/>
                    <a:lstStyle/>
                    <a:p>
                      <a:pPr algn="ctr">
                        <a:defRPr sz="1400"/>
                      </a:pPr>
                      <a:r>
                        <a:t>1.030</a:t>
                      </a:r>
                    </a:p>
                  </a:txBody>
                  <a:tcPr/>
                </a:tc>
                <a:tc>
                  <a:txBody>
                    <a:bodyPr/>
                    <a:lstStyle/>
                    <a:p>
                      <a:pPr algn="ctr">
                        <a:defRPr sz="1400"/>
                      </a:pPr>
                      <a:r>
                        <a:t>0.014</a:t>
                      </a:r>
                    </a:p>
                  </a:txBody>
                  <a:tcPr/>
                </a:tc>
                <a:tc>
                  <a:txBody>
                    <a:bodyPr/>
                    <a:lstStyle/>
                    <a:p>
                      <a:pPr algn="ctr">
                        <a:defRPr sz="1400"/>
                      </a:pPr>
                      <a:r>
                        <a:t>12,851</a:t>
                      </a:r>
                    </a:p>
                  </a:txBody>
                  <a:tcPr/>
                </a:tc>
                <a:tc>
                  <a:txBody>
                    <a:bodyPr/>
                    <a:lstStyle/>
                    <a:p>
                      <a:pPr algn="ctr">
                        <a:defRPr sz="1400"/>
                      </a:pPr>
                      <a:r>
                        <a:t>190</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NHANES vs CDC Population Mortality</a:t>
            </a:r>
          </a:p>
        </p:txBody>
      </p:sp>
      <p:sp>
        <p:nvSpPr>
          <p:cNvPr id="3" name="Content Placeholder 2"/>
          <p:cNvSpPr>
            <a:spLocks noGrp="1"/>
          </p:cNvSpPr>
          <p:nvPr>
            <p:ph idx="1"/>
          </p:nvPr>
        </p:nvSpPr>
        <p:spPr/>
        <p:txBody>
          <a:bodyPr/>
          <a:lstStyle/>
          <a:p>
            <a:pPr>
              <a:spcBef>
                <a:spcPts val="300"/>
              </a:spcBef>
              <a:spcAft>
                <a:spcPts val="300"/>
              </a:spcAft>
            </a:pPr>
            <a:r>
              <a:rPr sz="1600" dirty="0"/>
              <a:t>Overall A/E = 0.988 (NHANES 1.2% below CDC table)</a:t>
            </a:r>
          </a:p>
          <a:p>
            <a:pPr>
              <a:spcBef>
                <a:spcPts val="600"/>
              </a:spcBef>
            </a:pPr>
            <a:endParaRPr sz="1600" dirty="0"/>
          </a:p>
          <a:p>
            <a:pPr>
              <a:spcBef>
                <a:spcPts val="300"/>
              </a:spcBef>
              <a:spcAft>
                <a:spcPts val="300"/>
              </a:spcAft>
            </a:pPr>
            <a:r>
              <a:rPr sz="1600" dirty="0"/>
              <a:t>By duration:</a:t>
            </a:r>
          </a:p>
          <a:p>
            <a:pPr lvl="1">
              <a:spcBef>
                <a:spcPts val="300"/>
              </a:spcBef>
              <a:spcAft>
                <a:spcPts val="300"/>
              </a:spcAft>
            </a:pPr>
            <a:r>
              <a:rPr sz="1400" dirty="0"/>
              <a:t>Duration 1: A/E = 0.890 — healthy participant effect</a:t>
            </a:r>
          </a:p>
          <a:p>
            <a:pPr lvl="1">
              <a:spcBef>
                <a:spcPts val="300"/>
              </a:spcBef>
              <a:spcAft>
                <a:spcPts val="300"/>
              </a:spcAft>
            </a:pPr>
            <a:r>
              <a:rPr sz="1400" dirty="0"/>
              <a:t>Duration 2–3: selection fades; A/E near 1.0</a:t>
            </a:r>
          </a:p>
          <a:p>
            <a:pPr lvl="1">
              <a:spcBef>
                <a:spcPts val="300"/>
              </a:spcBef>
              <a:spcAft>
                <a:spcPts val="300"/>
              </a:spcAft>
            </a:pPr>
            <a:r>
              <a:rPr sz="1400" dirty="0"/>
              <a:t>Duration 4–5: near or slightly above CDC</a:t>
            </a:r>
          </a:p>
          <a:p>
            <a:pPr>
              <a:spcBef>
                <a:spcPts val="300"/>
              </a:spcBef>
              <a:spcAft>
                <a:spcPts val="300"/>
              </a:spcAft>
            </a:pPr>
            <a:r>
              <a:rPr sz="1600" dirty="0"/>
              <a:t>By age:</a:t>
            </a:r>
          </a:p>
          <a:p>
            <a:pPr lvl="1">
              <a:spcBef>
                <a:spcPts val="300"/>
              </a:spcBef>
              <a:spcAft>
                <a:spcPts val="300"/>
              </a:spcAft>
            </a:pPr>
            <a:r>
              <a:rPr sz="1400" dirty="0"/>
              <a:t>Ages 30–39: A/E = 0.56 — young participants far healthier</a:t>
            </a:r>
          </a:p>
          <a:p>
            <a:pPr lvl="1">
              <a:spcBef>
                <a:spcPts val="300"/>
              </a:spcBef>
              <a:spcAft>
                <a:spcPts val="300"/>
              </a:spcAft>
            </a:pPr>
            <a:r>
              <a:rPr sz="1400" dirty="0"/>
              <a:t>Ages 50–69: A/E = 0.92–0.93 — close to population</a:t>
            </a:r>
          </a:p>
          <a:p>
            <a:pPr lvl="1">
              <a:spcBef>
                <a:spcPts val="300"/>
              </a:spcBef>
              <a:spcAft>
                <a:spcPts val="300"/>
              </a:spcAft>
            </a:pPr>
            <a:r>
              <a:rPr sz="1400" dirty="0"/>
              <a:t>Ages 80–89: A/E = 1.14 — above CDC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Relativity Convergence: Select-and-Ultimate</a:t>
            </a:r>
          </a:p>
        </p:txBody>
      </p:sp>
      <p:sp>
        <p:nvSpPr>
          <p:cNvPr id="3" name="Content Placeholder 2"/>
          <p:cNvSpPr>
            <a:spLocks noGrp="1"/>
          </p:cNvSpPr>
          <p:nvPr>
            <p:ph idx="1"/>
          </p:nvPr>
        </p:nvSpPr>
        <p:spPr/>
        <p:txBody>
          <a:bodyPr/>
          <a:lstStyle/>
          <a:p>
            <a:pPr>
              <a:spcBef>
                <a:spcPts val="300"/>
              </a:spcBef>
              <a:spcAft>
                <a:spcPts val="300"/>
              </a:spcAft>
            </a:pPr>
            <a:r>
              <a:rPr sz="1600" dirty="0"/>
              <a:t>Relativity = model </a:t>
            </a:r>
            <a:r>
              <a:rPr sz="1600" dirty="0" err="1"/>
              <a:t>qx</a:t>
            </a:r>
            <a:r>
              <a:rPr sz="1600" dirty="0"/>
              <a:t> / CDC population </a:t>
            </a:r>
            <a:r>
              <a:rPr sz="1600" dirty="0" err="1"/>
              <a:t>qx</a:t>
            </a:r>
            <a:endParaRPr sz="1600" dirty="0"/>
          </a:p>
          <a:p>
            <a:pPr>
              <a:spcBef>
                <a:spcPts val="600"/>
              </a:spcBef>
            </a:pPr>
            <a:endParaRPr sz="1600" dirty="0"/>
          </a:p>
          <a:p>
            <a:pPr>
              <a:spcBef>
                <a:spcPts val="300"/>
              </a:spcBef>
              <a:spcAft>
                <a:spcPts val="300"/>
              </a:spcAft>
            </a:pPr>
            <a:r>
              <a:rPr sz="1600" dirty="0"/>
              <a:t>Risk deciles all converge toward 1.0 over time:</a:t>
            </a:r>
          </a:p>
          <a:p>
            <a:pPr lvl="1">
              <a:spcBef>
                <a:spcPts val="300"/>
              </a:spcBef>
              <a:spcAft>
                <a:spcPts val="300"/>
              </a:spcAft>
            </a:pPr>
            <a:r>
              <a:rPr sz="1400" dirty="0"/>
              <a:t>Decile 1 (lowest risk): 0.09 at year 1 → 0.34 at year 5</a:t>
            </a:r>
          </a:p>
          <a:p>
            <a:pPr lvl="1">
              <a:spcBef>
                <a:spcPts val="300"/>
              </a:spcBef>
              <a:spcAft>
                <a:spcPts val="300"/>
              </a:spcAft>
            </a:pPr>
            <a:r>
              <a:rPr sz="1400" dirty="0"/>
              <a:t>Decile 5 (median): 0.32 → 0.57</a:t>
            </a:r>
          </a:p>
          <a:p>
            <a:pPr lvl="1">
              <a:spcBef>
                <a:spcPts val="300"/>
              </a:spcBef>
              <a:spcAft>
                <a:spcPts val="300"/>
              </a:spcAft>
            </a:pPr>
            <a:r>
              <a:rPr sz="1400" dirty="0"/>
              <a:t>Decile 10 (highest risk): 2.39 → 1.62</a:t>
            </a:r>
          </a:p>
          <a:p>
            <a:pPr>
              <a:spcBef>
                <a:spcPts val="600"/>
              </a:spcBef>
            </a:pPr>
            <a:endParaRPr sz="1400" dirty="0"/>
          </a:p>
          <a:p>
            <a:pPr>
              <a:spcBef>
                <a:spcPts val="300"/>
              </a:spcBef>
              <a:spcAft>
                <a:spcPts val="300"/>
              </a:spcAft>
            </a:pPr>
            <a:r>
              <a:rPr sz="1600" dirty="0"/>
              <a:t>Median annual decay rate: 0.900 (10% convergence per year)</a:t>
            </a:r>
          </a:p>
          <a:p>
            <a:pPr>
              <a:spcBef>
                <a:spcPts val="300"/>
              </a:spcBef>
              <a:spcAft>
                <a:spcPts val="300"/>
              </a:spcAft>
            </a:pPr>
            <a:r>
              <a:rPr sz="1600" dirty="0"/>
              <a:t>Consistent with actuarial select-and-ultimate mortality theory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Durational Durability: Does the Score Last?</a:t>
            </a:r>
          </a:p>
        </p:txBody>
      </p:sp>
      <p:sp>
        <p:nvSpPr>
          <p:cNvPr id="3" name="Content Placeholder 2"/>
          <p:cNvSpPr>
            <a:spLocks noGrp="1"/>
          </p:cNvSpPr>
          <p:nvPr>
            <p:ph idx="1"/>
          </p:nvPr>
        </p:nvSpPr>
        <p:spPr/>
        <p:txBody>
          <a:bodyPr/>
          <a:lstStyle/>
          <a:p>
            <a:pPr>
              <a:spcBef>
                <a:spcPts val="300"/>
              </a:spcBef>
              <a:spcAft>
                <a:spcPts val="300"/>
              </a:spcAft>
            </a:pPr>
            <a:r>
              <a:rPr sz="1600" dirty="0"/>
              <a:t>Key question: Does a single exam predict mortality beyond year 5?</a:t>
            </a:r>
          </a:p>
          <a:p>
            <a:pPr>
              <a:spcBef>
                <a:spcPts val="600"/>
              </a:spcBef>
            </a:pPr>
            <a:endParaRPr sz="1600" dirty="0"/>
          </a:p>
          <a:p>
            <a:pPr>
              <a:spcBef>
                <a:spcPts val="300"/>
              </a:spcBef>
              <a:spcAft>
                <a:spcPts val="300"/>
              </a:spcAft>
            </a:pPr>
            <a:r>
              <a:rPr sz="1600" dirty="0"/>
              <a:t>Method:</a:t>
            </a:r>
          </a:p>
          <a:p>
            <a:pPr lvl="1">
              <a:spcBef>
                <a:spcPts val="300"/>
              </a:spcBef>
              <a:spcAft>
                <a:spcPts val="300"/>
              </a:spcAft>
            </a:pPr>
            <a:r>
              <a:rPr sz="1400" dirty="0"/>
              <a:t>Normalize predictions by CDC expected mortality (age + gender)</a:t>
            </a:r>
          </a:p>
          <a:p>
            <a:pPr lvl="1">
              <a:spcBef>
                <a:spcPts val="300"/>
              </a:spcBef>
              <a:spcAft>
                <a:spcPts val="300"/>
              </a:spcAft>
            </a:pPr>
            <a:r>
              <a:rPr sz="1400" dirty="0"/>
              <a:t>Relativity = model 5-year </a:t>
            </a:r>
            <a:r>
              <a:rPr sz="1400" dirty="0" err="1"/>
              <a:t>qx</a:t>
            </a:r>
            <a:r>
              <a:rPr sz="1400" dirty="0"/>
              <a:t> / CDC 5-year </a:t>
            </a:r>
            <a:r>
              <a:rPr sz="1400" dirty="0" err="1"/>
              <a:t>qx</a:t>
            </a:r>
            <a:endParaRPr sz="1400" dirty="0"/>
          </a:p>
          <a:p>
            <a:pPr lvl="1">
              <a:spcBef>
                <a:spcPts val="300"/>
              </a:spcBef>
              <a:spcAft>
                <a:spcPts val="300"/>
              </a:spcAft>
            </a:pPr>
            <a:r>
              <a:rPr sz="1400" dirty="0"/>
              <a:t>Assign quartiles on this relative score (removes age/gender effect)</a:t>
            </a:r>
          </a:p>
          <a:p>
            <a:pPr lvl="1">
              <a:spcBef>
                <a:spcPts val="300"/>
              </a:spcBef>
              <a:spcAft>
                <a:spcPts val="300"/>
              </a:spcAft>
            </a:pPr>
            <a:r>
              <a:rPr sz="1400" dirty="0"/>
              <a:t>Track A/E ratio by quartile across 15 duration years</a:t>
            </a:r>
          </a:p>
          <a:p>
            <a:pPr>
              <a:spcBef>
                <a:spcPts val="600"/>
              </a:spcBef>
            </a:pPr>
            <a:endParaRPr sz="1400" dirty="0"/>
          </a:p>
          <a:p>
            <a:pPr>
              <a:spcBef>
                <a:spcPts val="300"/>
              </a:spcBef>
              <a:spcAft>
                <a:spcPts val="300"/>
              </a:spcAft>
            </a:pPr>
            <a:r>
              <a:rPr sz="1600" dirty="0"/>
              <a:t>Isolates the pure selection effect of non-demographic features:</a:t>
            </a:r>
          </a:p>
          <a:p>
            <a:pPr lvl="1">
              <a:spcBef>
                <a:spcPts val="300"/>
              </a:spcBef>
              <a:spcAft>
                <a:spcPts val="300"/>
              </a:spcAft>
            </a:pPr>
            <a:r>
              <a:rPr sz="1400" dirty="0"/>
              <a:t>Smoking, BMI, blood pressure, cholesterol, HbA1c, medical history</a:t>
            </a:r>
          </a:p>
          <a:p>
            <a:pPr>
              <a:spcBef>
                <a:spcPts val="600"/>
              </a:spcBef>
            </a:pPr>
            <a:endParaRPr sz="1400" dirty="0"/>
          </a:p>
          <a:p>
            <a:pPr>
              <a:spcBef>
                <a:spcPts val="300"/>
              </a:spcBef>
              <a:spcAft>
                <a:spcPts val="300"/>
              </a:spcAft>
            </a:pPr>
            <a:r>
              <a:rPr sz="1600" dirty="0"/>
              <a:t>Test set: 16,877 individuals, 2,484 deaths, up to 20.8 years follow-up</a:t>
            </a:r>
          </a:p>
          <a:p>
            <a:pPr lvl="1">
              <a:spcBef>
                <a:spcPts val="300"/>
              </a:spcBef>
              <a:spcAft>
                <a:spcPts val="300"/>
              </a:spcAft>
            </a:pPr>
            <a:r>
              <a:rPr sz="1400" dirty="0"/>
              <a:t>Quartile avg ages nearly equal: Q1=45, Q2=46, Q3=48, Q4=50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2600" b="1"/>
              <a:t>A/E Convergence Toward Population</a:t>
            </a:r>
          </a:p>
        </p:txBody>
      </p:sp>
      <p:pic>
        <p:nvPicPr>
          <p:cNvPr id="3" name="Picture 2" descr="durational_ae_convergence.png"/>
          <p:cNvPicPr>
            <a:picLocks noChangeAspect="1"/>
          </p:cNvPicPr>
          <p:nvPr/>
        </p:nvPicPr>
        <p:blipFill>
          <a:blip r:embed="rId2"/>
          <a:stretch>
            <a:fillRect/>
          </a:stretch>
        </p:blipFill>
        <p:spPr>
          <a:xfrm>
            <a:off x="1285191" y="1273277"/>
            <a:ext cx="9621311" cy="47548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2600" b="1"/>
              <a:t>15-Year Survival by Relativity Quartile</a:t>
            </a:r>
          </a:p>
        </p:txBody>
      </p:sp>
      <p:pic>
        <p:nvPicPr>
          <p:cNvPr id="3" name="Picture 2" descr="durational_survival_curves.png"/>
          <p:cNvPicPr>
            <a:picLocks noChangeAspect="1"/>
          </p:cNvPicPr>
          <p:nvPr/>
        </p:nvPicPr>
        <p:blipFill>
          <a:blip r:embed="rId2"/>
          <a:stretch>
            <a:fillRect/>
          </a:stretch>
        </p:blipFill>
        <p:spPr>
          <a:xfrm>
            <a:off x="1632320" y="1302775"/>
            <a:ext cx="8927054" cy="47548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Implications for Actuarial Work</a:t>
            </a:r>
          </a:p>
        </p:txBody>
      </p:sp>
      <p:sp>
        <p:nvSpPr>
          <p:cNvPr id="3" name="Content Placeholder 2"/>
          <p:cNvSpPr>
            <a:spLocks noGrp="1"/>
          </p:cNvSpPr>
          <p:nvPr>
            <p:ph idx="1"/>
          </p:nvPr>
        </p:nvSpPr>
        <p:spPr/>
        <p:txBody>
          <a:bodyPr/>
          <a:lstStyle/>
          <a:p>
            <a:pPr>
              <a:spcBef>
                <a:spcPts val="300"/>
              </a:spcBef>
              <a:spcAft>
                <a:spcPts val="300"/>
              </a:spcAft>
            </a:pPr>
            <a:r>
              <a:rPr sz="2400" dirty="0"/>
              <a:t>An AI assistant handled the full technical stack for a mortality study</a:t>
            </a:r>
          </a:p>
          <a:p>
            <a:pPr>
              <a:spcBef>
                <a:spcPts val="300"/>
              </a:spcBef>
              <a:spcAft>
                <a:spcPts val="300"/>
              </a:spcAft>
            </a:pPr>
            <a:r>
              <a:rPr sz="2400" dirty="0"/>
              <a:t>The actuary’s role shifted to judgment and direction </a:t>
            </a:r>
          </a:p>
          <a:p>
            <a:pPr>
              <a:spcBef>
                <a:spcPts val="300"/>
              </a:spcBef>
              <a:spcAft>
                <a:spcPts val="300"/>
              </a:spcAft>
            </a:pPr>
            <a:r>
              <a:rPr sz="2400" dirty="0"/>
              <a:t>Scope of work that would typically require weeks was completed in hours</a:t>
            </a:r>
          </a:p>
          <a:p>
            <a:pPr>
              <a:spcBef>
                <a:spcPts val="300"/>
              </a:spcBef>
              <a:spcAft>
                <a:spcPts val="300"/>
              </a:spcAft>
            </a:pPr>
            <a:r>
              <a:rPr sz="2400" dirty="0"/>
              <a:t>The limiting factor was decision-making, not execution</a:t>
            </a:r>
          </a:p>
          <a:p>
            <a:pPr marL="0" indent="0">
              <a:spcBef>
                <a:spcPts val="600"/>
              </a:spcBef>
              <a:buNone/>
            </a:pPr>
            <a:endParaRPr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38826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bodyPr/>
      <a:lstStyle>
        <a:defPPr algn="l">
          <a:defRPr dirty="0"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b72dd6e-c27c-4639-b124-2b12953460bf}" enabled="0" method="" siteId="{7b72dd6e-c27c-4639-b124-2b12953460bf}" removed="1"/>
</clbl:labelList>
</file>

<file path=docProps/app.xml><?xml version="1.0" encoding="utf-8"?>
<Properties xmlns="http://schemas.openxmlformats.org/officeDocument/2006/extended-properties" xmlns:vt="http://schemas.openxmlformats.org/officeDocument/2006/docPropsVTypes">
  <TotalTime>95</TotalTime>
  <Words>848</Words>
  <Application>Microsoft Office PowerPoint</Application>
  <PresentationFormat>Widescreen</PresentationFormat>
  <Paragraphs>138</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Arboria Book</vt:lpstr>
      <vt:lpstr>Arial</vt:lpstr>
      <vt:lpstr>Calibri</vt:lpstr>
      <vt:lpstr>Tenorite</vt:lpstr>
      <vt:lpstr>Office Theme</vt:lpstr>
      <vt:lpstr>PowerPoint Presentation</vt:lpstr>
      <vt:lpstr>PowerPoint Presentation</vt:lpstr>
      <vt:lpstr>PowerPoint Presentation</vt:lpstr>
      <vt:lpstr>Mortality Modeling with GenAI</vt:lpstr>
      <vt:lpstr>Role of AI in This Project</vt:lpstr>
      <vt:lpstr>What I Did</vt:lpstr>
      <vt:lpstr>Research Question</vt:lpstr>
      <vt:lpstr>Methodology</vt:lpstr>
      <vt:lpstr>23 Predictors Across 6 Domains</vt:lpstr>
      <vt:lpstr>Model Performance (Test Set) Calibration = sum(predicted) / actual deaths;  target = 1.000  |  Composed 5-year calibration: 0.925</vt:lpstr>
      <vt:lpstr>NHANES vs CDC Population Mortality</vt:lpstr>
      <vt:lpstr>Relativity Convergence: Select-and-Ultimate</vt:lpstr>
      <vt:lpstr>Durational Durability: Does the Score Last?</vt:lpstr>
      <vt:lpstr>A/E Convergence Toward Population</vt:lpstr>
      <vt:lpstr>15-Year Survival by Relativity Quartile</vt:lpstr>
      <vt:lpstr>Implications for Actuarial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Sarah Bennett</dc:creator>
  <cp:lastModifiedBy>Michael Niemerg</cp:lastModifiedBy>
  <cp:revision>5</cp:revision>
  <dcterms:created xsi:type="dcterms:W3CDTF">2026-02-20T21:41:41Z</dcterms:created>
  <dcterms:modified xsi:type="dcterms:W3CDTF">2026-04-23T22:26:43Z</dcterms:modified>
</cp:coreProperties>
</file>